
<file path=[Content_Types].xml><?xml version="1.0" encoding="utf-8"?>
<ct:Types xmlns:ct="http://schemas.openxmlformats.org/package/2006/content-types"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slideLayouts/slideLayout1.xml" ContentType="application/vnd.openxmlformats-officedocument.presentationml.slideLayout+xml"/>
  <ct:Override PartName="/ppt/theme/theme1.xml" ContentType="application/vnd.openxmlformats-officedocument.theme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slides/slide10.xml" ContentType="application/vnd.openxmlformats-officedocument.presentationml.slide+xml"/>
</ct:Types>
</file>

<file path=_rels/.rels><?xml version='1.0' encoding='utf-8'?>
<rel:Relationships xmlns:rel="http://schemas.openxmlformats.org/package/2006/relationships"><rel:Relationship Id="rId1" Type="http://schemas.openxmlformats.org/officeDocument/2006/relationships/officeDocument" Target="ppt/presentation.xml" /></rel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695" cy="6858000" type="screen16x9"/>
  <p:notesSz cx="6858000" cy="9144000"/>
  <p:defaultTextStyle/>
</p:presentation>
</file>

<file path=ppt/_rels/presentation.xml.rels><?xml version='1.0' encoding='utf-8'?>
<rel:Relationships xmlns:rel="http://schemas.openxmlformats.org/package/2006/relationships"><rel:Relationship Id="rId1" Type="http://schemas.openxmlformats.org/officeDocument/2006/relationships/slideMaster" Target="slideMasters/slideMaster1.xml" /><rel:Relationship Id="rId2" Type="http://schemas.openxmlformats.org/officeDocument/2006/relationships/slide" Target="slides/slide1.xml" /><rel:Relationship Id="rId3" Type="http://schemas.openxmlformats.org/officeDocument/2006/relationships/slide" Target="slides/slide2.xml" /><rel:Relationship Id="rId4" Type="http://schemas.openxmlformats.org/officeDocument/2006/relationships/slide" Target="slides/slide3.xml" /><rel:Relationship Id="rId5" Type="http://schemas.openxmlformats.org/officeDocument/2006/relationships/slide" Target="slides/slide4.xml" /><rel:Relationship Id="rId6" Type="http://schemas.openxmlformats.org/officeDocument/2006/relationships/slide" Target="slides/slide5.xml" /><rel:Relationship Id="rId7" Type="http://schemas.openxmlformats.org/officeDocument/2006/relationships/slide" Target="slides/slide6.xml" /><rel:Relationship Id="rId8" Type="http://schemas.openxmlformats.org/officeDocument/2006/relationships/slide" Target="slides/slide7.xml" /><rel:Relationship Id="rId9" Type="http://schemas.openxmlformats.org/officeDocument/2006/relationships/slide" Target="slides/slide8.xml" /><rel:Relationship Id="rId10" Type="http://schemas.openxmlformats.org/officeDocument/2006/relationships/slide" Target="slides/slide9.xml" /><rel:Relationship Id="rId11" Type="http://schemas.openxmlformats.org/officeDocument/2006/relationships/slide" Target="slides/slide10.xml" /></rel:Relationships>
</file>

<file path=ppt/slideLayouts/_rels/slideLayout1.xml.rels><?xml version='1.0' encoding='utf-8'?>
<rel:Relationships xmlns:rel="http://schemas.openxmlformats.org/package/2006/relationships"><rel:Relationship Id="rId1" Type="http://schemas.openxmlformats.org/officeDocument/2006/relationships/slideMaster" Target="../slideMasters/slideMaster1.xml" /></rel: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/>
</p:sldLayout>
</file>

<file path=ppt/slideMasters/_rels/slideMaster1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rel:Relationship Id="rId2" Type="http://schemas.openxmlformats.org/officeDocument/2006/relationships/theme" Target="../theme/theme1.xml" /></rel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2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3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4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5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6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7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8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9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_rels/slide10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1.xml" /></rel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B"/>
          </a:solidFill>
          <a:ln w="12700">
            <a:noFill/>
          </a:ln>
        </p:spPr>
      </p:sp>
      <p:sp>
        <p:nvSpPr>
          <p:cNvPr id="3" name="cover blue"/>
          <p:cNvSpPr/>
          <p:nvPr/>
        </p:nvSpPr>
        <p:spPr>
          <a:xfrm>
            <a:off x="640080" y="731520"/>
            <a:ext cx="109728" cy="5212080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cover cyan"/>
          <p:cNvSpPr/>
          <p:nvPr/>
        </p:nvSpPr>
        <p:spPr>
          <a:xfrm>
            <a:off x="786384" y="731520"/>
            <a:ext cx="54864" cy="3200400"/>
          </a:xfrm>
          <a:prstGeom prst="rect">
            <a:avLst/>
          </a:prstGeom>
          <a:solidFill>
            <a:srgbClr val="42D7E8"/>
          </a:solidFill>
          <a:ln w="12700">
            <a:noFill/>
          </a:ln>
        </p:spPr>
      </p:sp>
      <p:sp>
        <p:nvSpPr>
          <p:cNvPr id="5" name="Text FORGE AI  / "/>
          <p:cNvSpPr/>
          <p:nvPr/>
        </p:nvSpPr>
        <p:spPr>
          <a:xfrm>
            <a:off x="1143000" y="1024128"/>
            <a:ext cx="6217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FORGE AI  /  SYSTEM ARCHITECTURE</a:t>
            </a:r>
            <a:endParaRPr lang="zh-CN" sz="11"/>
          </a:p>
          <a:extLst/>
        </p:txBody>
      </p:sp>
      <p:sp>
        <p:nvSpPr>
          <p:cNvPr id="6" name="Text 从数据到模型的&#10;工业质检"/>
          <p:cNvSpPr/>
          <p:nvPr/>
        </p:nvSpPr>
        <p:spPr>
          <a:xfrm>
            <a:off x="1115568" y="1600200"/>
            <a:ext cx="8778240" cy="12344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31" b="1">
                <a:latin typeface="Aptos"/>
                <a:ea typeface="Noto Sans CJK SC"/>
                <a:solidFill>
                  <a:srgbClr val="FFFFFF"/>
                </a:solidFill>
              </a:rPr>
              <a:t>从数据到模型的</a:t>
            </a:r>
            <a:br/>
            <a:r>
              <a:rPr lang="zh-CN" sz="31" b="1">
                <a:latin typeface="Aptos"/>
                <a:ea typeface="Noto Sans CJK SC"/>
                <a:solidFill>
                  <a:srgbClr val="FFFFFF"/>
                </a:solidFill>
              </a:rPr>
              <a:t>工业质检生产闭环</a:t>
            </a:r>
            <a:endParaRPr lang="zh-CN" sz="31"/>
          </a:p>
          <a:extLst/>
        </p:txBody>
      </p:sp>
      <p:sp>
        <p:nvSpPr>
          <p:cNvPr id="7" name="Text 单租户 · 企业内网 ·"/>
          <p:cNvSpPr/>
          <p:nvPr/>
        </p:nvSpPr>
        <p:spPr>
          <a:xfrm>
            <a:off x="1170432" y="3136392"/>
            <a:ext cx="66751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0">
                <a:latin typeface="Aptos"/>
                <a:ea typeface="Noto Sans CJK SC"/>
                <a:solidFill>
                  <a:srgbClr val="B8D0DE"/>
                </a:solidFill>
              </a:rPr>
              <a:t>单租户 · 企业内网 · 可追溯 · CPU/GPU 双模式</a:t>
            </a:r>
            <a:endParaRPr lang="zh-CN" sz="15"/>
          </a:p>
          <a:extLst/>
        </p:txBody>
      </p:sp>
      <p:sp>
        <p:nvSpPr>
          <p:cNvPr id="8" name="数据标注"/>
          <p:cNvSpPr/>
          <p:nvPr/>
        </p:nvSpPr>
        <p:spPr>
          <a:xfrm>
            <a:off x="1170432" y="4160520"/>
            <a:ext cx="141732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1685E8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685E8"/>
                </a:solidFill>
              </a:rPr>
              <a:t>数据标注</a:t>
            </a:r>
            <a:endParaRPr lang="zh-CN" sz="9"/>
          </a:p>
          <a:extLst/>
        </p:txBody>
      </p:sp>
      <p:sp>
        <p:nvSpPr>
          <p:cNvPr id="9" name="真实训练"/>
          <p:cNvSpPr/>
          <p:nvPr/>
        </p:nvSpPr>
        <p:spPr>
          <a:xfrm>
            <a:off x="2724912" y="4160520"/>
            <a:ext cx="141732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20B8A5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20B8A5"/>
                </a:solidFill>
              </a:rPr>
              <a:t>真实训练</a:t>
            </a:r>
            <a:endParaRPr lang="zh-CN" sz="9"/>
          </a:p>
          <a:extLst/>
        </p:txBody>
      </p:sp>
      <p:sp>
        <p:nvSpPr>
          <p:cNvPr id="10" name="模型转换"/>
          <p:cNvSpPr/>
          <p:nvPr/>
        </p:nvSpPr>
        <p:spPr>
          <a:xfrm>
            <a:off x="4279392" y="4160520"/>
            <a:ext cx="141732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8066E8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模型转换</a:t>
            </a:r>
            <a:endParaRPr lang="zh-CN" sz="9"/>
          </a:p>
          <a:extLst/>
        </p:txBody>
      </p:sp>
      <p:sp>
        <p:nvSpPr>
          <p:cNvPr id="11" name="部署交付"/>
          <p:cNvSpPr/>
          <p:nvPr/>
        </p:nvSpPr>
        <p:spPr>
          <a:xfrm>
            <a:off x="5833872" y="4160520"/>
            <a:ext cx="141732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F39A45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39A45"/>
                </a:solidFill>
              </a:rPr>
              <a:t>部署交付</a:t>
            </a:r>
            <a:endParaRPr lang="zh-CN" sz="9"/>
          </a:p>
          <a:extLst/>
        </p:txBody>
      </p:sp>
      <p:sp>
        <p:nvSpPr>
          <p:cNvPr id="12" name="平台定位"/>
          <p:cNvSpPr/>
          <p:nvPr/>
        </p:nvSpPr>
        <p:spPr>
          <a:xfrm>
            <a:off x="8412480" y="1143000"/>
            <a:ext cx="2926080" cy="1133856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42D7E8"/>
            </a:solidFill>
          </a:ln>
        </p:spPr>
      </p:sp>
      <p:sp>
        <p:nvSpPr>
          <p:cNvPr id="13" name="平台定位 accent"/>
          <p:cNvSpPr/>
          <p:nvPr/>
        </p:nvSpPr>
        <p:spPr>
          <a:xfrm>
            <a:off x="8412480" y="1143000"/>
            <a:ext cx="68580" cy="1133856"/>
          </a:xfrm>
          <a:prstGeom prst="roundRect">
            <a:avLst/>
          </a:prstGeom>
          <a:solidFill>
            <a:srgbClr val="42D7E8"/>
          </a:solidFill>
          <a:ln w="12700">
            <a:noFill/>
          </a:ln>
        </p:spPr>
      </p:sp>
      <p:sp>
        <p:nvSpPr>
          <p:cNvPr id="14" name="平台定位 icon"/>
          <p:cNvSpPr/>
          <p:nvPr/>
        </p:nvSpPr>
        <p:spPr>
          <a:xfrm>
            <a:off x="8613648" y="1344168"/>
            <a:ext cx="347472" cy="347472"/>
          </a:xfrm>
          <a:prstGeom prst="roundRect">
            <a:avLst/>
          </a:prstGeom>
          <a:solidFill>
            <a:srgbClr val="081B2B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42D7E8"/>
                </a:solidFill>
              </a:rPr>
              <a:t>01</a:t>
            </a:r>
            <a:endParaRPr lang="zh-CN" sz="16"/>
          </a:p>
          <a:extLst/>
        </p:txBody>
      </p:sp>
      <p:sp>
        <p:nvSpPr>
          <p:cNvPr id="15" name="Text 平台定位"/>
          <p:cNvSpPr/>
          <p:nvPr/>
        </p:nvSpPr>
        <p:spPr>
          <a:xfrm>
            <a:off x="9070848" y="1325880"/>
            <a:ext cx="213055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平台定位</a:t>
            </a:r>
            <a:endParaRPr lang="zh-CN" sz="15"/>
          </a:p>
          <a:extLst/>
        </p:txBody>
      </p:sp>
      <p:sp>
        <p:nvSpPr>
          <p:cNvPr id="16" name="Text 面向工业质检团队的模型生"/>
          <p:cNvSpPr/>
          <p:nvPr/>
        </p:nvSpPr>
        <p:spPr>
          <a:xfrm>
            <a:off x="9070848" y="1737360"/>
            <a:ext cx="2103119" cy="40233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面向工业质检团队的模型生产工作台，统一承载数据、训练、模型和部署产物。</a:t>
            </a:r>
            <a:endParaRPr lang="zh-CN" sz="10"/>
          </a:p>
          <a:extLst/>
        </p:txBody>
      </p:sp>
      <p:sp>
        <p:nvSpPr>
          <p:cNvPr id="17" name="设计基线"/>
          <p:cNvSpPr/>
          <p:nvPr/>
        </p:nvSpPr>
        <p:spPr>
          <a:xfrm>
            <a:off x="8412480" y="2542032"/>
            <a:ext cx="2926080" cy="1133856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1685E8"/>
            </a:solidFill>
          </a:ln>
        </p:spPr>
      </p:sp>
      <p:sp>
        <p:nvSpPr>
          <p:cNvPr id="18" name="设计基线 accent"/>
          <p:cNvSpPr/>
          <p:nvPr/>
        </p:nvSpPr>
        <p:spPr>
          <a:xfrm>
            <a:off x="8412480" y="2542032"/>
            <a:ext cx="68580" cy="1133856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19" name="设计基线 icon"/>
          <p:cNvSpPr/>
          <p:nvPr/>
        </p:nvSpPr>
        <p:spPr>
          <a:xfrm>
            <a:off x="8613648" y="2743200"/>
            <a:ext cx="347472" cy="347472"/>
          </a:xfrm>
          <a:prstGeom prst="roundRect">
            <a:avLst/>
          </a:prstGeom>
          <a:solidFill>
            <a:srgbClr val="081B2B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685E8"/>
                </a:solidFill>
              </a:rPr>
              <a:t>02</a:t>
            </a:r>
            <a:endParaRPr lang="zh-CN" sz="16"/>
          </a:p>
          <a:extLst/>
        </p:txBody>
      </p:sp>
      <p:sp>
        <p:nvSpPr>
          <p:cNvPr id="20" name="Text 设计基线"/>
          <p:cNvSpPr/>
          <p:nvPr/>
        </p:nvSpPr>
        <p:spPr>
          <a:xfrm>
            <a:off x="9070848" y="2724912"/>
            <a:ext cx="213055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设计基线</a:t>
            </a:r>
            <a:endParaRPr lang="zh-CN" sz="15"/>
          </a:p>
          <a:extLst/>
        </p:txBody>
      </p:sp>
      <p:sp>
        <p:nvSpPr>
          <p:cNvPr id="21" name="Text React + Fast"/>
          <p:cNvSpPr/>
          <p:nvPr/>
        </p:nvSpPr>
        <p:spPr>
          <a:xfrm>
            <a:off x="9070848" y="3136391"/>
            <a:ext cx="2103119" cy="40233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React + Fastify + PostgreSQL + Redis/BullMQ + Python Worker + Docker Compose。</a:t>
            </a:r>
            <a:endParaRPr lang="zh-CN" sz="10"/>
          </a:p>
          <a:extLst/>
        </p:txBody>
      </p:sp>
      <p:sp>
        <p:nvSpPr>
          <p:cNvPr id="22" name="交付边界"/>
          <p:cNvSpPr/>
          <p:nvPr/>
        </p:nvSpPr>
        <p:spPr>
          <a:xfrm>
            <a:off x="8412480" y="3941063"/>
            <a:ext cx="2926080" cy="1133856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F39A45"/>
            </a:solidFill>
          </a:ln>
        </p:spPr>
      </p:sp>
      <p:sp>
        <p:nvSpPr>
          <p:cNvPr id="23" name="交付边界 accent"/>
          <p:cNvSpPr/>
          <p:nvPr/>
        </p:nvSpPr>
        <p:spPr>
          <a:xfrm>
            <a:off x="8412480" y="3941063"/>
            <a:ext cx="68580" cy="1133856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24" name="交付边界 icon"/>
          <p:cNvSpPr/>
          <p:nvPr/>
        </p:nvSpPr>
        <p:spPr>
          <a:xfrm>
            <a:off x="8613648" y="4142231"/>
            <a:ext cx="347472" cy="347472"/>
          </a:xfrm>
          <a:prstGeom prst="roundRect">
            <a:avLst/>
          </a:prstGeom>
          <a:solidFill>
            <a:srgbClr val="081B2B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F39A45"/>
                </a:solidFill>
              </a:rPr>
              <a:t>03</a:t>
            </a:r>
            <a:endParaRPr lang="zh-CN" sz="16"/>
          </a:p>
          <a:extLst/>
        </p:txBody>
      </p:sp>
      <p:sp>
        <p:nvSpPr>
          <p:cNvPr id="25" name="Text 交付边界"/>
          <p:cNvSpPr/>
          <p:nvPr/>
        </p:nvSpPr>
        <p:spPr>
          <a:xfrm>
            <a:off x="9070848" y="4123944"/>
            <a:ext cx="213055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交付边界</a:t>
            </a:r>
            <a:endParaRPr lang="zh-CN" sz="15"/>
          </a:p>
          <a:extLst/>
        </p:txBody>
      </p:sp>
      <p:sp>
        <p:nvSpPr>
          <p:cNvPr id="26" name="Text 平台负责生产与制品治理；"/>
          <p:cNvSpPr/>
          <p:nvPr/>
        </p:nvSpPr>
        <p:spPr>
          <a:xfrm>
            <a:off x="9070848" y="4535424"/>
            <a:ext cx="2103119" cy="40233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平台负责生产与制品治理；在线推理服务由外部 Runtime 按格式加载。</a:t>
            </a:r>
            <a:endParaRPr lang="zh-CN" sz="10"/>
          </a:p>
          <a:extLst/>
        </p:txBody>
      </p:sp>
      <p:sp>
        <p:nvSpPr>
          <p:cNvPr id="27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8FA9B9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28" name="Text 01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8FA9B9"/>
                </a:solidFill>
              </a:rPr>
              <a:t>01</a:t>
            </a:r>
            <a:endParaRPr lang="zh-CN" sz="8"/>
          </a:p>
          <a:extLst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设计理念：把“训练脚本”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设计理念：把“训练脚本”产品化</a:t>
            </a:r>
            <a:endParaRPr lang="zh-CN" sz="27"/>
          </a:p>
          <a:extLst/>
        </p:txBody>
      </p:sp>
      <p:sp>
        <p:nvSpPr>
          <p:cNvPr id="5" name="Text 从一次性实验到可追溯的模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从一次性实验到可追溯的模型生产系统</a:t>
            </a:r>
            <a:endParaRPr lang="zh-CN" sz="11"/>
          </a:p>
          <a:extLst/>
        </p:txBody>
      </p:sp>
      <p:sp>
        <p:nvSpPr>
          <p:cNvPr id="6" name="数据先行"/>
          <p:cNvSpPr/>
          <p:nvPr/>
        </p:nvSpPr>
        <p:spPr>
          <a:xfrm>
            <a:off x="594360" y="1828800"/>
            <a:ext cx="24231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7" name="数据先行 accent"/>
          <p:cNvSpPr/>
          <p:nvPr/>
        </p:nvSpPr>
        <p:spPr>
          <a:xfrm>
            <a:off x="594360" y="1828800"/>
            <a:ext cx="68580" cy="2240280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8" name="数据先行 icon"/>
          <p:cNvSpPr/>
          <p:nvPr/>
        </p:nvSpPr>
        <p:spPr>
          <a:xfrm>
            <a:off x="795528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685E8"/>
                </a:solidFill>
              </a:rPr>
              <a:t>01</a:t>
            </a:r>
            <a:endParaRPr lang="zh-CN" sz="16"/>
          </a:p>
          <a:extLst/>
        </p:txBody>
      </p:sp>
      <p:sp>
        <p:nvSpPr>
          <p:cNvPr id="9" name="Text 数据先行"/>
          <p:cNvSpPr/>
          <p:nvPr/>
        </p:nvSpPr>
        <p:spPr>
          <a:xfrm>
            <a:off x="1252728" y="2011680"/>
            <a:ext cx="162763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数据先行</a:t>
            </a:r>
            <a:endParaRPr lang="zh-CN" sz="15"/>
          </a:p>
          <a:extLst/>
        </p:txBody>
      </p:sp>
      <p:sp>
        <p:nvSpPr>
          <p:cNvPr id="10" name="Text 数据集是通用容器，任务类"/>
          <p:cNvSpPr/>
          <p:nvPr/>
        </p:nvSpPr>
        <p:spPr>
          <a:xfrm>
            <a:off x="1252728" y="2423160"/>
            <a:ext cx="1600199" cy="15087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数据集是通用容器，任务类型在导出和训练阶段选择；标注、审核、版本与格式统一管理。</a:t>
            </a:r>
            <a:endParaRPr lang="zh-CN" sz="10"/>
          </a:p>
          <a:extLst/>
        </p:txBody>
      </p:sp>
      <p:sp>
        <p:nvSpPr>
          <p:cNvPr id="11" name="异步解耦"/>
          <p:cNvSpPr/>
          <p:nvPr/>
        </p:nvSpPr>
        <p:spPr>
          <a:xfrm>
            <a:off x="3547872" y="1828800"/>
            <a:ext cx="24231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12" name="异步解耦 accent"/>
          <p:cNvSpPr/>
          <p:nvPr/>
        </p:nvSpPr>
        <p:spPr>
          <a:xfrm>
            <a:off x="3547872" y="1828800"/>
            <a:ext cx="68580" cy="2240280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3" name="异步解耦 icon"/>
          <p:cNvSpPr/>
          <p:nvPr/>
        </p:nvSpPr>
        <p:spPr>
          <a:xfrm>
            <a:off x="3749039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20B8A5"/>
                </a:solidFill>
              </a:rPr>
              <a:t>02</a:t>
            </a:r>
            <a:endParaRPr lang="zh-CN" sz="16"/>
          </a:p>
          <a:extLst/>
        </p:txBody>
      </p:sp>
      <p:sp>
        <p:nvSpPr>
          <p:cNvPr id="14" name="Text 异步解耦"/>
          <p:cNvSpPr/>
          <p:nvPr/>
        </p:nvSpPr>
        <p:spPr>
          <a:xfrm>
            <a:off x="4206240" y="2011680"/>
            <a:ext cx="162763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异步解耦</a:t>
            </a:r>
            <a:endParaRPr lang="zh-CN" sz="15"/>
          </a:p>
          <a:extLst/>
        </p:txBody>
      </p:sp>
      <p:sp>
        <p:nvSpPr>
          <p:cNvPr id="15" name="Text API 负责鉴权、校验、"/>
          <p:cNvSpPr/>
          <p:nvPr/>
        </p:nvSpPr>
        <p:spPr>
          <a:xfrm>
            <a:off x="4206240" y="2423160"/>
            <a:ext cx="1600200" cy="15087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API 负责鉴权、校验、入队和查询；Worker 负责真实执行，长任务不阻塞业务请求。</a:t>
            </a:r>
            <a:endParaRPr lang="zh-CN" sz="10"/>
          </a:p>
          <a:extLst/>
        </p:txBody>
      </p:sp>
      <p:sp>
        <p:nvSpPr>
          <p:cNvPr id="16" name="制品可追溯"/>
          <p:cNvSpPr/>
          <p:nvPr/>
        </p:nvSpPr>
        <p:spPr>
          <a:xfrm>
            <a:off x="6501384" y="1828800"/>
            <a:ext cx="24231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17" name="制品可追溯 accent"/>
          <p:cNvSpPr/>
          <p:nvPr/>
        </p:nvSpPr>
        <p:spPr>
          <a:xfrm>
            <a:off x="6501384" y="1828800"/>
            <a:ext cx="68580" cy="2240280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18" name="制品可追溯 icon"/>
          <p:cNvSpPr/>
          <p:nvPr/>
        </p:nvSpPr>
        <p:spPr>
          <a:xfrm>
            <a:off x="6702552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8066E8"/>
                </a:solidFill>
              </a:rPr>
              <a:t>03</a:t>
            </a:r>
            <a:endParaRPr lang="zh-CN" sz="16"/>
          </a:p>
          <a:extLst/>
        </p:txBody>
      </p:sp>
      <p:sp>
        <p:nvSpPr>
          <p:cNvPr id="19" name="Text 制品可追溯"/>
          <p:cNvSpPr/>
          <p:nvPr/>
        </p:nvSpPr>
        <p:spPr>
          <a:xfrm>
            <a:off x="7159752" y="2011680"/>
            <a:ext cx="162763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制品可追溯</a:t>
            </a:r>
            <a:endParaRPr lang="zh-CN" sz="15"/>
          </a:p>
          <a:extLst/>
        </p:txBody>
      </p:sp>
      <p:sp>
        <p:nvSpPr>
          <p:cNvPr id="20" name="Text 模型、转换文件、导出包都"/>
          <p:cNvSpPr/>
          <p:nvPr/>
        </p:nvSpPr>
        <p:spPr>
          <a:xfrm>
            <a:off x="7159752" y="2423160"/>
            <a:ext cx="1600200" cy="15087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模型、转换文件、导出包都绑定来源任务、版本、哈希和审计记录，支持回滚与清理。</a:t>
            </a:r>
            <a:endParaRPr lang="zh-CN" sz="10"/>
          </a:p>
          <a:extLst/>
        </p:txBody>
      </p:sp>
      <p:sp>
        <p:nvSpPr>
          <p:cNvPr id="21" name="能力可降级"/>
          <p:cNvSpPr/>
          <p:nvPr/>
        </p:nvSpPr>
        <p:spPr>
          <a:xfrm>
            <a:off x="9454896" y="1828800"/>
            <a:ext cx="24231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22" name="能力可降级 accent"/>
          <p:cNvSpPr/>
          <p:nvPr/>
        </p:nvSpPr>
        <p:spPr>
          <a:xfrm>
            <a:off x="9454896" y="1828800"/>
            <a:ext cx="68580" cy="2240280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23" name="能力可降级 icon"/>
          <p:cNvSpPr/>
          <p:nvPr/>
        </p:nvSpPr>
        <p:spPr>
          <a:xfrm>
            <a:off x="9656064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F39A45"/>
                </a:solidFill>
              </a:rPr>
              <a:t>04</a:t>
            </a:r>
            <a:endParaRPr lang="zh-CN" sz="16"/>
          </a:p>
          <a:extLst/>
        </p:txBody>
      </p:sp>
      <p:sp>
        <p:nvSpPr>
          <p:cNvPr id="24" name="Text 能力可降级"/>
          <p:cNvSpPr/>
          <p:nvPr/>
        </p:nvSpPr>
        <p:spPr>
          <a:xfrm>
            <a:off x="10113264" y="2011680"/>
            <a:ext cx="162763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能力可降级</a:t>
            </a:r>
            <a:endParaRPr lang="zh-CN" sz="15"/>
          </a:p>
          <a:extLst/>
        </p:txBody>
      </p:sp>
      <p:sp>
        <p:nvSpPr>
          <p:cNvPr id="25" name="Text 无 GPU 仍可完成数据"/>
          <p:cNvSpPr/>
          <p:nvPr/>
        </p:nvSpPr>
        <p:spPr>
          <a:xfrm>
            <a:off x="10113264" y="2423160"/>
            <a:ext cx="1600199" cy="15087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无 GPU 仍可完成数据、导出、CPU 训练和 CPU 安全格式转换；GPU 能力按配置开放。</a:t>
            </a:r>
            <a:endParaRPr lang="zh-CN" sz="10"/>
          </a:p>
          <a:extLst/>
        </p:txBody>
      </p:sp>
      <p:sp>
        <p:nvSpPr>
          <p:cNvPr id="26" name="principles bar"/>
          <p:cNvSpPr/>
          <p:nvPr/>
        </p:nvSpPr>
        <p:spPr>
          <a:xfrm>
            <a:off x="594360" y="4617720"/>
            <a:ext cx="11018520" cy="777240"/>
          </a:xfrm>
          <a:prstGeom prst="roundRect">
            <a:avLst/>
          </a:prstGeom>
          <a:solidFill>
            <a:srgbClr val="0D2940"/>
          </a:solidFill>
          <a:ln w="12700">
            <a:noFill/>
          </a:ln>
        </p:spPr>
      </p:sp>
      <p:sp>
        <p:nvSpPr>
          <p:cNvPr id="27" name="Text 核心判断"/>
          <p:cNvSpPr/>
          <p:nvPr/>
        </p:nvSpPr>
        <p:spPr>
          <a:xfrm>
            <a:off x="850392" y="4818888"/>
            <a:ext cx="182880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核心判断</a:t>
            </a:r>
            <a:endParaRPr lang="zh-CN" sz="11"/>
          </a:p>
          <a:extLst/>
        </p:txBody>
      </p:sp>
      <p:sp>
        <p:nvSpPr>
          <p:cNvPr id="28" name="Text 任何一次“创建、执行、转"/>
          <p:cNvSpPr/>
          <p:nvPr/>
        </p:nvSpPr>
        <p:spPr>
          <a:xfrm>
            <a:off x="2176272" y="4773168"/>
            <a:ext cx="89611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FFFFFF"/>
                </a:solidFill>
              </a:rPr>
              <a:t>任何一次“创建、执行、转换、删除”，都必须能回答：谁做的、基于什么数据、生成了什么、现在在哪里。</a:t>
            </a:r>
            <a:endParaRPr lang="zh-CN" sz="13"/>
          </a:p>
          <a:extLst/>
        </p:txBody>
      </p:sp>
      <p:sp>
        <p:nvSpPr>
          <p:cNvPr id="29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30" name="Text 02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02</a:t>
            </a:r>
            <a:endParaRPr lang="zh-CN" sz="8"/>
          </a:p>
          <a:extLst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总体架构：控制面与执行面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总体架构：控制面与执行面分离</a:t>
            </a:r>
            <a:endParaRPr lang="zh-CN" sz="27"/>
          </a:p>
          <a:extLst/>
        </p:txBody>
      </p:sp>
      <p:sp>
        <p:nvSpPr>
          <p:cNvPr id="5" name="Text 逻辑分层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逻辑分层</a:t>
            </a:r>
            <a:endParaRPr lang="zh-CN" sz="11"/>
          </a:p>
          <a:extLst/>
        </p:txBody>
      </p:sp>
      <p:sp>
        <p:nvSpPr>
          <p:cNvPr id="6" name="experience lane"/>
          <p:cNvSpPr/>
          <p:nvPr/>
        </p:nvSpPr>
        <p:spPr>
          <a:xfrm>
            <a:off x="502920" y="1737360"/>
            <a:ext cx="11201400" cy="932688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D7E2EA"/>
            </a:solidFill>
          </a:ln>
        </p:spPr>
      </p:sp>
      <p:sp>
        <p:nvSpPr>
          <p:cNvPr id="7" name="Text 体验层"/>
          <p:cNvSpPr/>
          <p:nvPr/>
        </p:nvSpPr>
        <p:spPr>
          <a:xfrm>
            <a:off x="685800" y="1965960"/>
            <a:ext cx="100584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1685E8"/>
                </a:solidFill>
              </a:rPr>
              <a:t>体验层</a:t>
            </a:r>
            <a:endParaRPr lang="zh-CN" sz="11"/>
          </a:p>
          <a:extLst/>
        </p:txBody>
      </p:sp>
      <p:sp>
        <p:nvSpPr>
          <p:cNvPr id="8" name="浏览器 / React"/>
          <p:cNvSpPr/>
          <p:nvPr/>
        </p:nvSpPr>
        <p:spPr>
          <a:xfrm>
            <a:off x="1828800" y="1856231"/>
            <a:ext cx="2148840" cy="6675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9" name="浏览器 / React accent"/>
          <p:cNvSpPr/>
          <p:nvPr/>
        </p:nvSpPr>
        <p:spPr>
          <a:xfrm>
            <a:off x="1828800" y="1856231"/>
            <a:ext cx="68580" cy="667512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10" name="Text 浏览器 / React"/>
          <p:cNvSpPr/>
          <p:nvPr/>
        </p:nvSpPr>
        <p:spPr>
          <a:xfrm>
            <a:off x="2048256" y="1947672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浏览器 / React</a:t>
            </a:r>
            <a:endParaRPr lang="zh-CN" sz="9"/>
          </a:p>
          <a:extLst/>
        </p:txBody>
      </p:sp>
      <p:sp>
        <p:nvSpPr>
          <p:cNvPr id="11" name="Text 工作台 · 标注 · 训"/>
          <p:cNvSpPr/>
          <p:nvPr/>
        </p:nvSpPr>
        <p:spPr>
          <a:xfrm>
            <a:off x="2048256" y="2130551"/>
            <a:ext cx="1792224" cy="3566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工作台 · 标注 · 训练 · 仓库</a:t>
            </a:r>
            <a:endParaRPr lang="zh-CN" sz="7"/>
          </a:p>
          <a:extLst/>
        </p:txBody>
      </p:sp>
      <p:sp>
        <p:nvSpPr>
          <p:cNvPr id="12" name="ApiClient"/>
          <p:cNvSpPr/>
          <p:nvPr/>
        </p:nvSpPr>
        <p:spPr>
          <a:xfrm>
            <a:off x="4434840" y="1856231"/>
            <a:ext cx="2148840" cy="6675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D7E8"/>
            </a:solidFill>
          </a:ln>
        </p:spPr>
      </p:sp>
      <p:sp>
        <p:nvSpPr>
          <p:cNvPr id="13" name="ApiClient accent"/>
          <p:cNvSpPr/>
          <p:nvPr/>
        </p:nvSpPr>
        <p:spPr>
          <a:xfrm>
            <a:off x="4434840" y="1856231"/>
            <a:ext cx="68580" cy="667512"/>
          </a:xfrm>
          <a:prstGeom prst="roundRect">
            <a:avLst/>
          </a:prstGeom>
          <a:solidFill>
            <a:srgbClr val="42D7E8"/>
          </a:solidFill>
          <a:ln w="12700">
            <a:noFill/>
          </a:ln>
        </p:spPr>
      </p:sp>
      <p:sp>
        <p:nvSpPr>
          <p:cNvPr id="14" name="Text ApiClient"/>
          <p:cNvSpPr/>
          <p:nvPr/>
        </p:nvSpPr>
        <p:spPr>
          <a:xfrm>
            <a:off x="4654296" y="1947672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ApiClient</a:t>
            </a:r>
            <a:endParaRPr lang="zh-CN" sz="9"/>
          </a:p>
          <a:extLst/>
        </p:txBody>
      </p:sp>
      <p:sp>
        <p:nvSpPr>
          <p:cNvPr id="15" name="Text 统一 DTO / 错误 "/>
          <p:cNvSpPr/>
          <p:nvPr/>
        </p:nvSpPr>
        <p:spPr>
          <a:xfrm>
            <a:off x="4654296" y="2130551"/>
            <a:ext cx="1792224" cy="3566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统一 DTO / 错误 / 会话</a:t>
            </a:r>
            <a:endParaRPr lang="zh-CN" sz="7"/>
          </a:p>
          <a:extLst/>
        </p:txBody>
      </p:sp>
      <p:sp>
        <p:nvSpPr>
          <p:cNvPr id="16" name="Dashboard"/>
          <p:cNvSpPr/>
          <p:nvPr/>
        </p:nvSpPr>
        <p:spPr>
          <a:xfrm>
            <a:off x="7040880" y="1856231"/>
            <a:ext cx="2148840" cy="6675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17" name="Dashboard accent"/>
          <p:cNvSpPr/>
          <p:nvPr/>
        </p:nvSpPr>
        <p:spPr>
          <a:xfrm>
            <a:off x="7040880" y="1856231"/>
            <a:ext cx="68580" cy="667512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8" name="Text Dashboard"/>
          <p:cNvSpPr/>
          <p:nvPr/>
        </p:nvSpPr>
        <p:spPr>
          <a:xfrm>
            <a:off x="7260336" y="1947672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Dashboard</a:t>
            </a:r>
            <a:endParaRPr lang="zh-CN" sz="9"/>
          </a:p>
          <a:extLst/>
        </p:txBody>
      </p:sp>
      <p:sp>
        <p:nvSpPr>
          <p:cNvPr id="19" name="Text 活动 · 状态 · 进度"/>
          <p:cNvSpPr/>
          <p:nvPr/>
        </p:nvSpPr>
        <p:spPr>
          <a:xfrm>
            <a:off x="7260336" y="2130551"/>
            <a:ext cx="1792224" cy="3566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活动 · 状态 · 进度</a:t>
            </a:r>
            <a:endParaRPr lang="zh-CN" sz="7"/>
          </a:p>
          <a:extLst/>
        </p:txBody>
      </p:sp>
      <p:cxnSp>
        <p:nvCxnSpPr>
          <p:cNvPr id="20" name="Connector"/>
          <p:cNvCxnSpPr/>
          <p:nvPr/>
        </p:nvCxnSpPr>
        <p:spPr>
          <a:xfrm>
            <a:off x="3977639" y="2185416"/>
            <a:ext cx="411480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cxnSp>
        <p:nvCxnSpPr>
          <p:cNvPr id="21" name="Connector"/>
          <p:cNvCxnSpPr/>
          <p:nvPr/>
        </p:nvCxnSpPr>
        <p:spPr>
          <a:xfrm>
            <a:off x="6583680" y="2185416"/>
            <a:ext cx="411480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sp>
        <p:nvSpPr>
          <p:cNvPr id="22" name="control lane"/>
          <p:cNvSpPr/>
          <p:nvPr/>
        </p:nvSpPr>
        <p:spPr>
          <a:xfrm>
            <a:off x="502920" y="2880360"/>
            <a:ext cx="11201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23" name="Text 控制面"/>
          <p:cNvSpPr/>
          <p:nvPr/>
        </p:nvSpPr>
        <p:spPr>
          <a:xfrm>
            <a:off x="685800" y="3246120"/>
            <a:ext cx="100584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13283A"/>
                </a:solidFill>
              </a:rPr>
              <a:t>控制面</a:t>
            </a:r>
            <a:endParaRPr lang="zh-CN" sz="11"/>
          </a:p>
          <a:extLst/>
        </p:txBody>
      </p:sp>
      <p:sp>
        <p:nvSpPr>
          <p:cNvPr id="24" name="Fastify API"/>
          <p:cNvSpPr/>
          <p:nvPr/>
        </p:nvSpPr>
        <p:spPr>
          <a:xfrm>
            <a:off x="1828800" y="3035808"/>
            <a:ext cx="21488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25" name="Fastify API accent"/>
          <p:cNvSpPr/>
          <p:nvPr/>
        </p:nvSpPr>
        <p:spPr>
          <a:xfrm>
            <a:off x="1828800" y="3035808"/>
            <a:ext cx="68580" cy="749808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26" name="Text Fastify API"/>
          <p:cNvSpPr/>
          <p:nvPr/>
        </p:nvSpPr>
        <p:spPr>
          <a:xfrm>
            <a:off x="2048256" y="3127248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Fastify API</a:t>
            </a:r>
            <a:endParaRPr lang="zh-CN" sz="9"/>
          </a:p>
          <a:extLst/>
        </p:txBody>
      </p:sp>
      <p:sp>
        <p:nvSpPr>
          <p:cNvPr id="27" name="Text 鉴权 · 校验 · 审计"/>
          <p:cNvSpPr/>
          <p:nvPr/>
        </p:nvSpPr>
        <p:spPr>
          <a:xfrm>
            <a:off x="2048256" y="3310127"/>
            <a:ext cx="1792224" cy="43891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鉴权 · 校验 · 审计 · 查询</a:t>
            </a:r>
            <a:endParaRPr lang="zh-CN" sz="7"/>
          </a:p>
          <a:extLst/>
        </p:txBody>
      </p:sp>
      <p:sp>
        <p:nvSpPr>
          <p:cNvPr id="28" name="Repository"/>
          <p:cNvSpPr/>
          <p:nvPr/>
        </p:nvSpPr>
        <p:spPr>
          <a:xfrm>
            <a:off x="4434840" y="3035808"/>
            <a:ext cx="21488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29" name="Repository accent"/>
          <p:cNvSpPr/>
          <p:nvPr/>
        </p:nvSpPr>
        <p:spPr>
          <a:xfrm>
            <a:off x="4434840" y="3035808"/>
            <a:ext cx="68580" cy="749808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30" name="Text Repository"/>
          <p:cNvSpPr/>
          <p:nvPr/>
        </p:nvSpPr>
        <p:spPr>
          <a:xfrm>
            <a:off x="4654296" y="3127248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Repository</a:t>
            </a:r>
            <a:endParaRPr lang="zh-CN" sz="9"/>
          </a:p>
          <a:extLst/>
        </p:txBody>
      </p:sp>
      <p:sp>
        <p:nvSpPr>
          <p:cNvPr id="31" name="Text PostgreSQL /"/>
          <p:cNvSpPr/>
          <p:nvPr/>
        </p:nvSpPr>
        <p:spPr>
          <a:xfrm>
            <a:off x="4654296" y="3310127"/>
            <a:ext cx="1792224" cy="43891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PostgreSQL / 内存适配器</a:t>
            </a:r>
            <a:endParaRPr lang="zh-CN" sz="7"/>
          </a:p>
          <a:extLst/>
        </p:txBody>
      </p:sp>
      <p:sp>
        <p:nvSpPr>
          <p:cNvPr id="32" name="BullMQ Queue"/>
          <p:cNvSpPr/>
          <p:nvPr/>
        </p:nvSpPr>
        <p:spPr>
          <a:xfrm>
            <a:off x="7040880" y="3035808"/>
            <a:ext cx="21488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33" name="BullMQ Queue accent"/>
          <p:cNvSpPr/>
          <p:nvPr/>
        </p:nvSpPr>
        <p:spPr>
          <a:xfrm>
            <a:off x="7040880" y="3035808"/>
            <a:ext cx="68580" cy="749808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34" name="Text BullMQ Queue"/>
          <p:cNvSpPr/>
          <p:nvPr/>
        </p:nvSpPr>
        <p:spPr>
          <a:xfrm>
            <a:off x="7260336" y="3127248"/>
            <a:ext cx="1792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BullMQ Queue</a:t>
            </a:r>
            <a:endParaRPr lang="zh-CN" sz="9"/>
          </a:p>
          <a:extLst/>
        </p:txBody>
      </p:sp>
      <p:sp>
        <p:nvSpPr>
          <p:cNvPr id="35" name="Text 训练 · 转换 · 导出"/>
          <p:cNvSpPr/>
          <p:nvPr/>
        </p:nvSpPr>
        <p:spPr>
          <a:xfrm>
            <a:off x="7260336" y="3310127"/>
            <a:ext cx="1792224" cy="43891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训练 · 转换 · 导出</a:t>
            </a:r>
            <a:endParaRPr lang="zh-CN" sz="7"/>
          </a:p>
          <a:extLst/>
        </p:txBody>
      </p:sp>
      <p:cxnSp>
        <p:nvCxnSpPr>
          <p:cNvPr id="36" name="Connector"/>
          <p:cNvCxnSpPr/>
          <p:nvPr/>
        </p:nvCxnSpPr>
        <p:spPr>
          <a:xfrm>
            <a:off x="3977639" y="3410712"/>
            <a:ext cx="411480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cxnSp>
        <p:nvCxnSpPr>
          <p:cNvPr id="37" name="Connector"/>
          <p:cNvCxnSpPr/>
          <p:nvPr/>
        </p:nvCxnSpPr>
        <p:spPr>
          <a:xfrm>
            <a:off x="6583680" y="3410712"/>
            <a:ext cx="411480" cy="182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sp>
        <p:nvSpPr>
          <p:cNvPr id="38" name="execution lane"/>
          <p:cNvSpPr/>
          <p:nvPr/>
        </p:nvSpPr>
        <p:spPr>
          <a:xfrm>
            <a:off x="502920" y="4160520"/>
            <a:ext cx="11201400" cy="132588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</p:sp>
      <p:sp>
        <p:nvSpPr>
          <p:cNvPr id="39" name="Text 执行面"/>
          <p:cNvSpPr/>
          <p:nvPr/>
        </p:nvSpPr>
        <p:spPr>
          <a:xfrm>
            <a:off x="685800" y="4645152"/>
            <a:ext cx="100584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执行面</a:t>
            </a:r>
            <a:endParaRPr lang="zh-CN" sz="11"/>
          </a:p>
          <a:extLst/>
        </p:txBody>
      </p:sp>
      <p:sp>
        <p:nvSpPr>
          <p:cNvPr id="40" name="CPU Worker"/>
          <p:cNvSpPr/>
          <p:nvPr/>
        </p:nvSpPr>
        <p:spPr>
          <a:xfrm>
            <a:off x="1828800" y="4407408"/>
            <a:ext cx="2011680" cy="841248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20B8A5"/>
            </a:solidFill>
          </a:ln>
        </p:spPr>
      </p:sp>
      <p:sp>
        <p:nvSpPr>
          <p:cNvPr id="41" name="CPU Worker accent"/>
          <p:cNvSpPr/>
          <p:nvPr/>
        </p:nvSpPr>
        <p:spPr>
          <a:xfrm>
            <a:off x="1828800" y="4407408"/>
            <a:ext cx="68580" cy="841248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42" name="Text CPU Worker"/>
          <p:cNvSpPr/>
          <p:nvPr/>
        </p:nvSpPr>
        <p:spPr>
          <a:xfrm>
            <a:off x="2048256" y="4590288"/>
            <a:ext cx="165506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CPU Worker</a:t>
            </a:r>
            <a:endParaRPr lang="zh-CN" sz="15"/>
          </a:p>
          <a:extLst/>
        </p:txBody>
      </p:sp>
      <p:sp>
        <p:nvSpPr>
          <p:cNvPr id="43" name="Text YOLO · 分割 · "/>
          <p:cNvSpPr/>
          <p:nvPr/>
        </p:nvSpPr>
        <p:spPr>
          <a:xfrm>
            <a:off x="2048256" y="5001768"/>
            <a:ext cx="1627632" cy="10972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YOLO · 分割 · 关键点</a:t>
            </a:r>
            <a:br/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ONNX / TorchScript / OpenVINO</a:t>
            </a:r>
            <a:endParaRPr lang="zh-CN" sz="10"/>
          </a:p>
          <a:extLst/>
        </p:txBody>
      </p:sp>
      <p:sp>
        <p:nvSpPr>
          <p:cNvPr id="44" name="GPU Worker"/>
          <p:cNvSpPr/>
          <p:nvPr/>
        </p:nvSpPr>
        <p:spPr>
          <a:xfrm>
            <a:off x="4297680" y="4407408"/>
            <a:ext cx="2011680" cy="841248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8066E8"/>
            </a:solidFill>
          </a:ln>
        </p:spPr>
      </p:sp>
      <p:sp>
        <p:nvSpPr>
          <p:cNvPr id="45" name="GPU Worker accent"/>
          <p:cNvSpPr/>
          <p:nvPr/>
        </p:nvSpPr>
        <p:spPr>
          <a:xfrm>
            <a:off x="4297680" y="4407408"/>
            <a:ext cx="68580" cy="841248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46" name="Text GPU Worker"/>
          <p:cNvSpPr/>
          <p:nvPr/>
        </p:nvSpPr>
        <p:spPr>
          <a:xfrm>
            <a:off x="4517136" y="4590288"/>
            <a:ext cx="165506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GPU Worker</a:t>
            </a:r>
            <a:endParaRPr lang="zh-CN" sz="15"/>
          </a:p>
          <a:extLst/>
        </p:txBody>
      </p:sp>
      <p:sp>
        <p:nvSpPr>
          <p:cNvPr id="47" name="Text TensorRT · G"/>
          <p:cNvSpPr/>
          <p:nvPr/>
        </p:nvSpPr>
        <p:spPr>
          <a:xfrm>
            <a:off x="4517136" y="5001768"/>
            <a:ext cx="1627632" cy="10972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TensorRT · GPU 训练</a:t>
            </a:r>
            <a:br/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SDXL LoRA</a:t>
            </a:r>
            <a:endParaRPr lang="zh-CN" sz="10"/>
          </a:p>
          <a:extLst/>
        </p:txBody>
      </p:sp>
      <p:sp>
        <p:nvSpPr>
          <p:cNvPr id="48" name="Export Worker"/>
          <p:cNvSpPr/>
          <p:nvPr/>
        </p:nvSpPr>
        <p:spPr>
          <a:xfrm>
            <a:off x="6766560" y="4407408"/>
            <a:ext cx="2011680" cy="841248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F39A45"/>
            </a:solidFill>
          </a:ln>
        </p:spPr>
      </p:sp>
      <p:sp>
        <p:nvSpPr>
          <p:cNvPr id="49" name="Export Worker accent"/>
          <p:cNvSpPr/>
          <p:nvPr/>
        </p:nvSpPr>
        <p:spPr>
          <a:xfrm>
            <a:off x="6766560" y="4407408"/>
            <a:ext cx="68580" cy="841248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50" name="Text Export Worke"/>
          <p:cNvSpPr/>
          <p:nvPr/>
        </p:nvSpPr>
        <p:spPr>
          <a:xfrm>
            <a:off x="6986016" y="4590288"/>
            <a:ext cx="165506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Export Worker</a:t>
            </a:r>
            <a:endParaRPr lang="zh-CN" sz="15"/>
          </a:p>
          <a:extLst/>
        </p:txBody>
      </p:sp>
      <p:sp>
        <p:nvSpPr>
          <p:cNvPr id="51" name="Text YOLO / COCO "/>
          <p:cNvSpPr/>
          <p:nvPr/>
        </p:nvSpPr>
        <p:spPr>
          <a:xfrm>
            <a:off x="6986016" y="5001768"/>
            <a:ext cx="1627632" cy="10972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YOLO / COCO / VOC</a:t>
            </a:r>
            <a:br/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Mask / Keypoints / Image Folder</a:t>
            </a:r>
            <a:endParaRPr lang="zh-CN" sz="10"/>
          </a:p>
          <a:extLst/>
        </p:txBody>
      </p:sp>
      <p:sp>
        <p:nvSpPr>
          <p:cNvPr id="52" name="Artifact Volume"/>
          <p:cNvSpPr/>
          <p:nvPr/>
        </p:nvSpPr>
        <p:spPr>
          <a:xfrm>
            <a:off x="9235440" y="4407408"/>
            <a:ext cx="2011680" cy="841248"/>
          </a:xfrm>
          <a:prstGeom prst="roundRect">
            <a:avLst/>
          </a:prstGeom>
          <a:solidFill>
            <a:srgbClr val="0D2940"/>
          </a:solidFill>
          <a:ln w="25400">
            <a:solidFill>
              <a:srgbClr val="1685E8"/>
            </a:solidFill>
          </a:ln>
        </p:spPr>
      </p:sp>
      <p:sp>
        <p:nvSpPr>
          <p:cNvPr id="53" name="Artifact Volume accent"/>
          <p:cNvSpPr/>
          <p:nvPr/>
        </p:nvSpPr>
        <p:spPr>
          <a:xfrm>
            <a:off x="9235440" y="4407408"/>
            <a:ext cx="68580" cy="841248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54" name="Text Artifact Vol"/>
          <p:cNvSpPr/>
          <p:nvPr/>
        </p:nvSpPr>
        <p:spPr>
          <a:xfrm>
            <a:off x="9454896" y="4590288"/>
            <a:ext cx="165506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FFFFFF"/>
                </a:solidFill>
              </a:rPr>
              <a:t>Artifact Volume</a:t>
            </a:r>
            <a:endParaRPr lang="zh-CN" sz="15"/>
          </a:p>
          <a:extLst/>
        </p:txBody>
      </p:sp>
      <p:sp>
        <p:nvSpPr>
          <p:cNvPr id="55" name="Text 原图 · 权重 · ZI"/>
          <p:cNvSpPr/>
          <p:nvPr/>
        </p:nvSpPr>
        <p:spPr>
          <a:xfrm>
            <a:off x="9454896" y="5001768"/>
            <a:ext cx="1627632" cy="10972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B8D0DE"/>
                </a:solidFill>
              </a:rPr>
              <a:t>原图 · 权重 · ZIP · 转换产物</a:t>
            </a:r>
            <a:endParaRPr lang="zh-CN" sz="10"/>
          </a:p>
          <a:extLst/>
        </p:txBody>
      </p:sp>
      <p:cxnSp>
        <p:nvCxnSpPr>
          <p:cNvPr id="56" name="Connector"/>
          <p:cNvCxnSpPr/>
          <p:nvPr/>
        </p:nvCxnSpPr>
        <p:spPr>
          <a:xfrm>
            <a:off x="9125712" y="3410712"/>
            <a:ext cx="18288" cy="9326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cxnSp>
        <p:nvCxnSpPr>
          <p:cNvPr id="57" name="Connector"/>
          <p:cNvCxnSpPr/>
          <p:nvPr/>
        </p:nvCxnSpPr>
        <p:spPr>
          <a:xfrm>
            <a:off x="8778240" y="4828032"/>
            <a:ext cx="411480" cy="18288"/>
          </a:xfrm>
          <a:prstGeom prst="line">
            <a:avLst/>
          </a:prstGeom>
          <a:ln w="25400">
            <a:solidFill>
              <a:srgbClr val="42D7E8"/>
            </a:solidFill>
            <a:tailEnd type="none"/>
            <a:headEnd type="triangle" w="med" len="med"/>
          </a:ln>
        </p:spPr>
      </p:cxnSp>
      <p:sp>
        <p:nvSpPr>
          <p:cNvPr id="58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59" name="Text 03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03</a:t>
            </a:r>
            <a:endParaRPr lang="zh-CN" sz="8"/>
          </a:p>
          <a:extLst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部署拓扑：企业内网单租户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部署拓扑：企业内网单租户一体化</a:t>
            </a:r>
            <a:endParaRPr lang="zh-CN" sz="27"/>
          </a:p>
          <a:extLst/>
        </p:txBody>
      </p:sp>
      <p:sp>
        <p:nvSpPr>
          <p:cNvPr id="5" name="Text 生产部署基线：2 × N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生产部署基线：2 × NVIDIA T4 16G，可切换 CPU-only</a:t>
            </a:r>
            <a:endParaRPr lang="zh-CN" sz="11"/>
          </a:p>
          <a:extLst/>
        </p:txBody>
      </p:sp>
      <p:sp>
        <p:nvSpPr>
          <p:cNvPr id="6" name="LAN boundary"/>
          <p:cNvSpPr/>
          <p:nvPr/>
        </p:nvSpPr>
        <p:spPr>
          <a:xfrm>
            <a:off x="502920" y="1691640"/>
            <a:ext cx="11201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7" name="Text 企业内网 / Docke"/>
          <p:cNvSpPr/>
          <p:nvPr/>
        </p:nvSpPr>
        <p:spPr>
          <a:xfrm>
            <a:off x="731520" y="1856231"/>
            <a:ext cx="310896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2" b="1">
                <a:latin typeface="Aptos"/>
                <a:ea typeface="Noto Sans CJK SC"/>
                <a:solidFill>
                  <a:srgbClr val="13283A"/>
                </a:solidFill>
              </a:rPr>
              <a:t>企业内网 / Docker Compose 边界</a:t>
            </a:r>
            <a:endParaRPr lang="zh-CN" sz="12"/>
          </a:p>
          <a:extLst/>
        </p:txBody>
      </p:sp>
      <p:sp>
        <p:nvSpPr>
          <p:cNvPr id="8" name="user side"/>
          <p:cNvSpPr/>
          <p:nvPr/>
        </p:nvSpPr>
        <p:spPr>
          <a:xfrm>
            <a:off x="777240" y="2267712"/>
            <a:ext cx="1965960" cy="260604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1685E8"/>
            </a:solidFill>
          </a:ln>
        </p:spPr>
      </p:sp>
      <p:sp>
        <p:nvSpPr>
          <p:cNvPr id="9" name="Text 访问入口"/>
          <p:cNvSpPr/>
          <p:nvPr/>
        </p:nvSpPr>
        <p:spPr>
          <a:xfrm>
            <a:off x="987552" y="2487168"/>
            <a:ext cx="15544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1685E8"/>
                </a:solidFill>
              </a:rPr>
              <a:t>访问入口</a:t>
            </a:r>
            <a:endParaRPr lang="zh-CN" sz="11"/>
          </a:p>
          <a:extLst/>
        </p:txBody>
      </p:sp>
      <p:sp>
        <p:nvSpPr>
          <p:cNvPr id="10" name="浏览器"/>
          <p:cNvSpPr/>
          <p:nvPr/>
        </p:nvSpPr>
        <p:spPr>
          <a:xfrm>
            <a:off x="960120" y="2926080"/>
            <a:ext cx="1600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11" name="浏览器 accent"/>
          <p:cNvSpPr/>
          <p:nvPr/>
        </p:nvSpPr>
        <p:spPr>
          <a:xfrm>
            <a:off x="960120" y="2926080"/>
            <a:ext cx="68580" cy="685800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12" name="Text 浏览器"/>
          <p:cNvSpPr/>
          <p:nvPr/>
        </p:nvSpPr>
        <p:spPr>
          <a:xfrm>
            <a:off x="1179576" y="3017520"/>
            <a:ext cx="124358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浏览器</a:t>
            </a:r>
            <a:endParaRPr lang="zh-CN" sz="9"/>
          </a:p>
          <a:extLst/>
        </p:txBody>
      </p:sp>
      <p:sp>
        <p:nvSpPr>
          <p:cNvPr id="13" name="Text 标注员 / 算法工程师 "/>
          <p:cNvSpPr/>
          <p:nvPr/>
        </p:nvSpPr>
        <p:spPr>
          <a:xfrm>
            <a:off x="1179576" y="3200400"/>
            <a:ext cx="124358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标注员 / 算法工程师 / 管理员</a:t>
            </a:r>
            <a:endParaRPr lang="zh-CN" sz="7"/>
          </a:p>
          <a:extLst/>
        </p:txBody>
      </p:sp>
      <p:sp>
        <p:nvSpPr>
          <p:cNvPr id="14" name="Web :5174"/>
          <p:cNvSpPr/>
          <p:nvPr/>
        </p:nvSpPr>
        <p:spPr>
          <a:xfrm>
            <a:off x="960120" y="3840480"/>
            <a:ext cx="1600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D7E8"/>
            </a:solidFill>
          </a:ln>
        </p:spPr>
      </p:sp>
      <p:sp>
        <p:nvSpPr>
          <p:cNvPr id="15" name="Web :5174 accent"/>
          <p:cNvSpPr/>
          <p:nvPr/>
        </p:nvSpPr>
        <p:spPr>
          <a:xfrm>
            <a:off x="960120" y="3840480"/>
            <a:ext cx="68580" cy="685800"/>
          </a:xfrm>
          <a:prstGeom prst="roundRect">
            <a:avLst/>
          </a:prstGeom>
          <a:solidFill>
            <a:srgbClr val="42D7E8"/>
          </a:solidFill>
          <a:ln w="12700">
            <a:noFill/>
          </a:ln>
        </p:spPr>
      </p:sp>
      <p:sp>
        <p:nvSpPr>
          <p:cNvPr id="16" name="Text Web :5174"/>
          <p:cNvSpPr/>
          <p:nvPr/>
        </p:nvSpPr>
        <p:spPr>
          <a:xfrm>
            <a:off x="1179576" y="3931920"/>
            <a:ext cx="124358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Web :5174</a:t>
            </a:r>
            <a:endParaRPr lang="zh-CN" sz="9"/>
          </a:p>
          <a:extLst/>
        </p:txBody>
      </p:sp>
      <p:sp>
        <p:nvSpPr>
          <p:cNvPr id="17" name="Text 静态前端与路由"/>
          <p:cNvSpPr/>
          <p:nvPr/>
        </p:nvSpPr>
        <p:spPr>
          <a:xfrm>
            <a:off x="1179576" y="4114800"/>
            <a:ext cx="124358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静态前端与路由</a:t>
            </a:r>
            <a:endParaRPr lang="zh-CN" sz="7"/>
          </a:p>
          <a:extLst/>
        </p:txBody>
      </p:sp>
      <p:sp>
        <p:nvSpPr>
          <p:cNvPr id="18" name="control services"/>
          <p:cNvSpPr/>
          <p:nvPr/>
        </p:nvSpPr>
        <p:spPr>
          <a:xfrm>
            <a:off x="3063240" y="2267712"/>
            <a:ext cx="2788920" cy="2606040"/>
          </a:xfrm>
          <a:prstGeom prst="roundRect">
            <a:avLst/>
          </a:prstGeom>
          <a:solidFill>
            <a:srgbClr val="E7FBFD"/>
          </a:solidFill>
          <a:ln w="12700">
            <a:solidFill>
              <a:srgbClr val="20B8A5"/>
            </a:solidFill>
          </a:ln>
        </p:spPr>
      </p:sp>
      <p:sp>
        <p:nvSpPr>
          <p:cNvPr id="19" name="Text 控制服务"/>
          <p:cNvSpPr/>
          <p:nvPr/>
        </p:nvSpPr>
        <p:spPr>
          <a:xfrm>
            <a:off x="3310128" y="2487168"/>
            <a:ext cx="228600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20B8A5"/>
                </a:solidFill>
              </a:rPr>
              <a:t>控制服务</a:t>
            </a:r>
            <a:endParaRPr lang="zh-CN" sz="11"/>
          </a:p>
          <a:extLst/>
        </p:txBody>
      </p:sp>
      <p:sp>
        <p:nvSpPr>
          <p:cNvPr id="20" name="API :4000"/>
          <p:cNvSpPr/>
          <p:nvPr/>
        </p:nvSpPr>
        <p:spPr>
          <a:xfrm>
            <a:off x="3337560" y="2926080"/>
            <a:ext cx="22402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21" name="API :4000 accent"/>
          <p:cNvSpPr/>
          <p:nvPr/>
        </p:nvSpPr>
        <p:spPr>
          <a:xfrm>
            <a:off x="3337560" y="2926080"/>
            <a:ext cx="68580" cy="685800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22" name="Text API :4000"/>
          <p:cNvSpPr/>
          <p:nvPr/>
        </p:nvSpPr>
        <p:spPr>
          <a:xfrm>
            <a:off x="3557015" y="3017520"/>
            <a:ext cx="188366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API :4000</a:t>
            </a:r>
            <a:endParaRPr lang="zh-CN" sz="9"/>
          </a:p>
          <a:extLst/>
        </p:txBody>
      </p:sp>
      <p:sp>
        <p:nvSpPr>
          <p:cNvPr id="23" name="Text JWT · RBAC ·"/>
          <p:cNvSpPr/>
          <p:nvPr/>
        </p:nvSpPr>
        <p:spPr>
          <a:xfrm>
            <a:off x="3557015" y="3200400"/>
            <a:ext cx="188366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JWT · RBAC · 校验 · 审计</a:t>
            </a:r>
            <a:endParaRPr lang="zh-CN" sz="7"/>
          </a:p>
          <a:extLst/>
        </p:txBody>
      </p:sp>
      <p:sp>
        <p:nvSpPr>
          <p:cNvPr id="24" name="PostgreSQL"/>
          <p:cNvSpPr/>
          <p:nvPr/>
        </p:nvSpPr>
        <p:spPr>
          <a:xfrm>
            <a:off x="3337560" y="3840480"/>
            <a:ext cx="100584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25" name="PostgreSQL accent"/>
          <p:cNvSpPr/>
          <p:nvPr/>
        </p:nvSpPr>
        <p:spPr>
          <a:xfrm>
            <a:off x="3337560" y="3840480"/>
            <a:ext cx="68580" cy="685800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26" name="Text PostgreSQL"/>
          <p:cNvSpPr/>
          <p:nvPr/>
        </p:nvSpPr>
        <p:spPr>
          <a:xfrm>
            <a:off x="3557015" y="3931920"/>
            <a:ext cx="6492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PostgreSQL</a:t>
            </a:r>
            <a:endParaRPr lang="zh-CN" sz="9"/>
          </a:p>
          <a:extLst/>
        </p:txBody>
      </p:sp>
      <p:sp>
        <p:nvSpPr>
          <p:cNvPr id="27" name="Text 领域真源"/>
          <p:cNvSpPr/>
          <p:nvPr/>
        </p:nvSpPr>
        <p:spPr>
          <a:xfrm>
            <a:off x="3557015" y="4114800"/>
            <a:ext cx="64922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领域真源</a:t>
            </a:r>
            <a:endParaRPr lang="zh-CN" sz="7"/>
          </a:p>
          <a:extLst/>
        </p:txBody>
      </p:sp>
      <p:sp>
        <p:nvSpPr>
          <p:cNvPr id="28" name="Redis"/>
          <p:cNvSpPr/>
          <p:nvPr/>
        </p:nvSpPr>
        <p:spPr>
          <a:xfrm>
            <a:off x="4553712" y="3840480"/>
            <a:ext cx="100584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29" name="Redis accent"/>
          <p:cNvSpPr/>
          <p:nvPr/>
        </p:nvSpPr>
        <p:spPr>
          <a:xfrm>
            <a:off x="4553712" y="3840480"/>
            <a:ext cx="68580" cy="685800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30" name="Text Redis"/>
          <p:cNvSpPr/>
          <p:nvPr/>
        </p:nvSpPr>
        <p:spPr>
          <a:xfrm>
            <a:off x="4773168" y="3931920"/>
            <a:ext cx="649223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Redis</a:t>
            </a:r>
            <a:endParaRPr lang="zh-CN" sz="9"/>
          </a:p>
          <a:extLst/>
        </p:txBody>
      </p:sp>
      <p:sp>
        <p:nvSpPr>
          <p:cNvPr id="31" name="Text 队列与重试"/>
          <p:cNvSpPr/>
          <p:nvPr/>
        </p:nvSpPr>
        <p:spPr>
          <a:xfrm>
            <a:off x="4773168" y="4114800"/>
            <a:ext cx="649223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队列与重试</a:t>
            </a:r>
            <a:endParaRPr lang="zh-CN" sz="7"/>
          </a:p>
          <a:extLst/>
        </p:txBody>
      </p:sp>
      <p:sp>
        <p:nvSpPr>
          <p:cNvPr id="32" name="execution services"/>
          <p:cNvSpPr/>
          <p:nvPr/>
        </p:nvSpPr>
        <p:spPr>
          <a:xfrm>
            <a:off x="6172200" y="2267712"/>
            <a:ext cx="2743200" cy="260604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8066E8"/>
            </a:solidFill>
          </a:ln>
        </p:spPr>
      </p:sp>
      <p:sp>
        <p:nvSpPr>
          <p:cNvPr id="33" name="Text 执行服务"/>
          <p:cNvSpPr/>
          <p:nvPr/>
        </p:nvSpPr>
        <p:spPr>
          <a:xfrm>
            <a:off x="6419088" y="2487168"/>
            <a:ext cx="228600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8066E8"/>
                </a:solidFill>
              </a:rPr>
              <a:t>执行服务</a:t>
            </a:r>
            <a:endParaRPr lang="zh-CN" sz="11"/>
          </a:p>
          <a:extLst/>
        </p:txBody>
      </p:sp>
      <p:sp>
        <p:nvSpPr>
          <p:cNvPr id="34" name="CPU Worker"/>
          <p:cNvSpPr/>
          <p:nvPr/>
        </p:nvSpPr>
        <p:spPr>
          <a:xfrm>
            <a:off x="6400800" y="2926080"/>
            <a:ext cx="100584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35" name="CPU Worker accent"/>
          <p:cNvSpPr/>
          <p:nvPr/>
        </p:nvSpPr>
        <p:spPr>
          <a:xfrm>
            <a:off x="6400800" y="2926080"/>
            <a:ext cx="68580" cy="685800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36" name="Text CPU Worker"/>
          <p:cNvSpPr/>
          <p:nvPr/>
        </p:nvSpPr>
        <p:spPr>
          <a:xfrm>
            <a:off x="6620256" y="3017520"/>
            <a:ext cx="649223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CPU Worker</a:t>
            </a:r>
            <a:endParaRPr lang="zh-CN" sz="9"/>
          </a:p>
          <a:extLst/>
        </p:txBody>
      </p:sp>
      <p:sp>
        <p:nvSpPr>
          <p:cNvPr id="37" name="Text 训练 / 转换"/>
          <p:cNvSpPr/>
          <p:nvPr/>
        </p:nvSpPr>
        <p:spPr>
          <a:xfrm>
            <a:off x="6620256" y="3200400"/>
            <a:ext cx="649223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训练 / 转换</a:t>
            </a:r>
            <a:endParaRPr lang="zh-CN" sz="7"/>
          </a:p>
          <a:extLst/>
        </p:txBody>
      </p:sp>
      <p:sp>
        <p:nvSpPr>
          <p:cNvPr id="38" name="GPU Worker"/>
          <p:cNvSpPr/>
          <p:nvPr/>
        </p:nvSpPr>
        <p:spPr>
          <a:xfrm>
            <a:off x="7589520" y="2926080"/>
            <a:ext cx="100584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39" name="GPU Worker accent"/>
          <p:cNvSpPr/>
          <p:nvPr/>
        </p:nvSpPr>
        <p:spPr>
          <a:xfrm>
            <a:off x="7589520" y="2926080"/>
            <a:ext cx="68580" cy="685800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40" name="Text GPU Worker"/>
          <p:cNvSpPr/>
          <p:nvPr/>
        </p:nvSpPr>
        <p:spPr>
          <a:xfrm>
            <a:off x="7808976" y="3017520"/>
            <a:ext cx="649223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GPU Worker</a:t>
            </a:r>
            <a:endParaRPr lang="zh-CN" sz="9"/>
          </a:p>
          <a:extLst/>
        </p:txBody>
      </p:sp>
      <p:sp>
        <p:nvSpPr>
          <p:cNvPr id="41" name="Text T4 / TensorR"/>
          <p:cNvSpPr/>
          <p:nvPr/>
        </p:nvSpPr>
        <p:spPr>
          <a:xfrm>
            <a:off x="7808976" y="3200400"/>
            <a:ext cx="649223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T4 / TensorRT</a:t>
            </a:r>
            <a:endParaRPr lang="zh-CN" sz="7"/>
          </a:p>
          <a:extLst/>
        </p:txBody>
      </p:sp>
      <p:sp>
        <p:nvSpPr>
          <p:cNvPr id="42" name="Export Worker"/>
          <p:cNvSpPr/>
          <p:nvPr/>
        </p:nvSpPr>
        <p:spPr>
          <a:xfrm>
            <a:off x="6400800" y="3840480"/>
            <a:ext cx="219456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43" name="Export Worker accent"/>
          <p:cNvSpPr/>
          <p:nvPr/>
        </p:nvSpPr>
        <p:spPr>
          <a:xfrm>
            <a:off x="6400800" y="3840480"/>
            <a:ext cx="68580" cy="685800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44" name="Text Export Worke"/>
          <p:cNvSpPr/>
          <p:nvPr/>
        </p:nvSpPr>
        <p:spPr>
          <a:xfrm>
            <a:off x="6620256" y="3931920"/>
            <a:ext cx="1837943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Export Worker</a:t>
            </a:r>
            <a:endParaRPr lang="zh-CN" sz="9"/>
          </a:p>
          <a:extLst/>
        </p:txBody>
      </p:sp>
      <p:sp>
        <p:nvSpPr>
          <p:cNvPr id="45" name="Text 异步导出与校验"/>
          <p:cNvSpPr/>
          <p:nvPr/>
        </p:nvSpPr>
        <p:spPr>
          <a:xfrm>
            <a:off x="6620256" y="4114800"/>
            <a:ext cx="1837943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异步导出与校验</a:t>
            </a:r>
            <a:endParaRPr lang="zh-CN" sz="7"/>
          </a:p>
          <a:extLst/>
        </p:txBody>
      </p:sp>
      <p:sp>
        <p:nvSpPr>
          <p:cNvPr id="46" name="storage services"/>
          <p:cNvSpPr/>
          <p:nvPr/>
        </p:nvSpPr>
        <p:spPr>
          <a:xfrm>
            <a:off x="9235440" y="2267712"/>
            <a:ext cx="2103120" cy="2606040"/>
          </a:xfrm>
          <a:prstGeom prst="roundRect">
            <a:avLst/>
          </a:prstGeom>
          <a:solidFill>
            <a:srgbClr val="FFF2E4"/>
          </a:solidFill>
          <a:ln w="12700">
            <a:solidFill>
              <a:srgbClr val="F39A45"/>
            </a:solidFill>
          </a:ln>
        </p:spPr>
      </p:sp>
      <p:sp>
        <p:nvSpPr>
          <p:cNvPr id="47" name="Text 存储与制品"/>
          <p:cNvSpPr/>
          <p:nvPr/>
        </p:nvSpPr>
        <p:spPr>
          <a:xfrm>
            <a:off x="9491472" y="2487168"/>
            <a:ext cx="160020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F39A45"/>
                </a:solidFill>
              </a:rPr>
              <a:t>存储与制品</a:t>
            </a:r>
            <a:endParaRPr lang="zh-CN" sz="11"/>
          </a:p>
          <a:extLst/>
        </p:txBody>
      </p:sp>
      <p:sp>
        <p:nvSpPr>
          <p:cNvPr id="48" name="共享 /data"/>
          <p:cNvSpPr/>
          <p:nvPr/>
        </p:nvSpPr>
        <p:spPr>
          <a:xfrm>
            <a:off x="9464040" y="2926080"/>
            <a:ext cx="16459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49" name="共享 /data accent"/>
          <p:cNvSpPr/>
          <p:nvPr/>
        </p:nvSpPr>
        <p:spPr>
          <a:xfrm>
            <a:off x="9464040" y="2926080"/>
            <a:ext cx="68580" cy="685800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50" name="Text 共享 /data"/>
          <p:cNvSpPr/>
          <p:nvPr/>
        </p:nvSpPr>
        <p:spPr>
          <a:xfrm>
            <a:off x="9683496" y="3017520"/>
            <a:ext cx="128930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共享 /data</a:t>
            </a:r>
            <a:endParaRPr lang="zh-CN" sz="9"/>
          </a:p>
          <a:extLst/>
        </p:txBody>
      </p:sp>
      <p:sp>
        <p:nvSpPr>
          <p:cNvPr id="51" name="Text artifactRoot"/>
          <p:cNvSpPr/>
          <p:nvPr/>
        </p:nvSpPr>
        <p:spPr>
          <a:xfrm>
            <a:off x="9683496" y="3200400"/>
            <a:ext cx="128930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artifactRoot / model-cache</a:t>
            </a:r>
            <a:endParaRPr lang="zh-CN" sz="7"/>
          </a:p>
          <a:extLst/>
        </p:txBody>
      </p:sp>
      <p:sp>
        <p:nvSpPr>
          <p:cNvPr id="52" name="MinIO"/>
          <p:cNvSpPr/>
          <p:nvPr/>
        </p:nvSpPr>
        <p:spPr>
          <a:xfrm>
            <a:off x="9464040" y="3840480"/>
            <a:ext cx="16459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53" name="MinIO accent"/>
          <p:cNvSpPr/>
          <p:nvPr/>
        </p:nvSpPr>
        <p:spPr>
          <a:xfrm>
            <a:off x="9464040" y="3840480"/>
            <a:ext cx="68580" cy="685800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54" name="Text MinIO"/>
          <p:cNvSpPr/>
          <p:nvPr/>
        </p:nvSpPr>
        <p:spPr>
          <a:xfrm>
            <a:off x="9683496" y="3931920"/>
            <a:ext cx="128930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MinIO</a:t>
            </a:r>
            <a:endParaRPr lang="zh-CN" sz="9"/>
          </a:p>
          <a:extLst/>
        </p:txBody>
      </p:sp>
      <p:sp>
        <p:nvSpPr>
          <p:cNvPr id="55" name="Text S3 抽象预留"/>
          <p:cNvSpPr/>
          <p:nvPr/>
        </p:nvSpPr>
        <p:spPr>
          <a:xfrm>
            <a:off x="9683496" y="4114800"/>
            <a:ext cx="1289304" cy="3749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S3 抽象预留</a:t>
            </a:r>
            <a:endParaRPr lang="zh-CN" sz="7"/>
          </a:p>
          <a:extLst/>
        </p:txBody>
      </p:sp>
      <p:cxnSp>
        <p:nvCxnSpPr>
          <p:cNvPr id="56" name="Connector"/>
          <p:cNvCxnSpPr/>
          <p:nvPr/>
        </p:nvCxnSpPr>
        <p:spPr>
          <a:xfrm>
            <a:off x="2743200" y="3246120"/>
            <a:ext cx="320040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cxnSp>
        <p:nvCxnSpPr>
          <p:cNvPr id="57" name="Connector"/>
          <p:cNvCxnSpPr/>
          <p:nvPr/>
        </p:nvCxnSpPr>
        <p:spPr>
          <a:xfrm>
            <a:off x="5852160" y="3246120"/>
            <a:ext cx="320039" cy="18288"/>
          </a:xfrm>
          <a:prstGeom prst="line">
            <a:avLst/>
          </a:prstGeom>
          <a:ln w="25400">
            <a:solidFill>
              <a:srgbClr val="20B8A5"/>
            </a:solidFill>
            <a:tailEnd type="none"/>
            <a:headEnd type="triangle" w="med" len="med"/>
          </a:ln>
        </p:spPr>
      </p:cxnSp>
      <p:cxnSp>
        <p:nvCxnSpPr>
          <p:cNvPr id="58" name="Connector"/>
          <p:cNvCxnSpPr/>
          <p:nvPr/>
        </p:nvCxnSpPr>
        <p:spPr>
          <a:xfrm>
            <a:off x="8915400" y="3246120"/>
            <a:ext cx="320039" cy="182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cxnSp>
        <p:nvCxnSpPr>
          <p:cNvPr id="59" name="Connector"/>
          <p:cNvCxnSpPr/>
          <p:nvPr/>
        </p:nvCxnSpPr>
        <p:spPr>
          <a:xfrm>
            <a:off x="4480560" y="3611880"/>
            <a:ext cx="1920239" cy="228600"/>
          </a:xfrm>
          <a:prstGeom prst="line">
            <a:avLst/>
          </a:prstGeom>
          <a:ln w="25400">
            <a:solidFill>
              <a:srgbClr val="8066E8"/>
            </a:solidFill>
            <a:tailEnd type="none"/>
            <a:headEnd type="triangle" w="med" len="med"/>
          </a:ln>
        </p:spPr>
      </p:cxnSp>
      <p:sp>
        <p:nvSpPr>
          <p:cNvPr id="60" name="Text CPU-only：保留数"/>
          <p:cNvSpPr/>
          <p:nvPr/>
        </p:nvSpPr>
        <p:spPr>
          <a:xfrm>
            <a:off x="731520" y="5285232"/>
            <a:ext cx="10607040" cy="32918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CPU-only：保留数据、导出、CPU 训练与 FP32 ONNX/TorchScript/OpenVINO；GPU profile：追加 TensorRT、GPU 训练和 SDXL。</a:t>
            </a:r>
            <a:endParaRPr lang="zh-CN" sz="11"/>
          </a:p>
          <a:extLst/>
        </p:txBody>
      </p:sp>
      <p:sp>
        <p:nvSpPr>
          <p:cNvPr id="61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62" name="Text 04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04</a:t>
            </a:r>
            <a:endParaRPr lang="zh-CN" sz="8"/>
          </a:p>
          <a:extLst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业务闭环：一份数据，多条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业务闭环：一份数据，多条生产路径</a:t>
            </a:r>
            <a:endParaRPr lang="zh-CN" sz="27"/>
          </a:p>
          <a:extLst/>
        </p:txBody>
      </p:sp>
      <p:sp>
        <p:nvSpPr>
          <p:cNvPr id="5" name="Text 从原始图像到可交付制品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从原始图像到可交付制品</a:t>
            </a:r>
            <a:endParaRPr lang="zh-CN" sz="11"/>
          </a:p>
          <a:extLst/>
        </p:txBody>
      </p:sp>
      <p:sp>
        <p:nvSpPr>
          <p:cNvPr id="6" name="数据集"/>
          <p:cNvSpPr/>
          <p:nvPr/>
        </p:nvSpPr>
        <p:spPr>
          <a:xfrm>
            <a:off x="566928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7" name="数据集 number"/>
          <p:cNvSpPr/>
          <p:nvPr/>
        </p:nvSpPr>
        <p:spPr>
          <a:xfrm>
            <a:off x="713232" y="2340864"/>
            <a:ext cx="356616" cy="256032"/>
          </a:xfrm>
          <a:prstGeom prst="roundRect">
            <a:avLst/>
          </a:prstGeom>
          <a:solidFill>
            <a:srgbClr val="E8F3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1685E8"/>
                </a:solidFill>
              </a:rPr>
              <a:t>01</a:t>
            </a:r>
            <a:endParaRPr lang="zh-CN" sz="8"/>
          </a:p>
          <a:extLst/>
        </p:txBody>
      </p:sp>
      <p:sp>
        <p:nvSpPr>
          <p:cNvPr id="8" name="Text 数据集"/>
          <p:cNvSpPr/>
          <p:nvPr/>
        </p:nvSpPr>
        <p:spPr>
          <a:xfrm>
            <a:off x="713232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数据集</a:t>
            </a:r>
            <a:endParaRPr lang="zh-CN" sz="13"/>
          </a:p>
          <a:extLst/>
        </p:txBody>
      </p:sp>
      <p:sp>
        <p:nvSpPr>
          <p:cNvPr id="9" name="Text 图片 · 类别 · 版本"/>
          <p:cNvSpPr/>
          <p:nvPr/>
        </p:nvSpPr>
        <p:spPr>
          <a:xfrm>
            <a:off x="685800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图片 · 类别 · 版本</a:t>
            </a:r>
            <a:endParaRPr lang="zh-CN" sz="8"/>
          </a:p>
          <a:extLst/>
        </p:txBody>
      </p:sp>
      <p:cxnSp>
        <p:nvCxnSpPr>
          <p:cNvPr id="10" name="Connector"/>
          <p:cNvCxnSpPr/>
          <p:nvPr/>
        </p:nvCxnSpPr>
        <p:spPr>
          <a:xfrm>
            <a:off x="1975104" y="2852928"/>
            <a:ext cx="310895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sp>
        <p:nvSpPr>
          <p:cNvPr id="11" name="标注审核"/>
          <p:cNvSpPr/>
          <p:nvPr/>
        </p:nvSpPr>
        <p:spPr>
          <a:xfrm>
            <a:off x="2331720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D7E8"/>
            </a:solidFill>
          </a:ln>
        </p:spPr>
      </p:sp>
      <p:sp>
        <p:nvSpPr>
          <p:cNvPr id="12" name="标注审核 number"/>
          <p:cNvSpPr/>
          <p:nvPr/>
        </p:nvSpPr>
        <p:spPr>
          <a:xfrm>
            <a:off x="2478024" y="2340864"/>
            <a:ext cx="356616" cy="256032"/>
          </a:xfrm>
          <a:prstGeom prst="roundRect">
            <a:avLst/>
          </a:prstGeom>
          <a:solidFill>
            <a:srgbClr val="E7FBFD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42D7E8"/>
                </a:solidFill>
              </a:rPr>
              <a:t>02</a:t>
            </a:r>
            <a:endParaRPr lang="zh-CN" sz="8"/>
          </a:p>
          <a:extLst/>
        </p:txBody>
      </p:sp>
      <p:sp>
        <p:nvSpPr>
          <p:cNvPr id="13" name="Text 标注审核"/>
          <p:cNvSpPr/>
          <p:nvPr/>
        </p:nvSpPr>
        <p:spPr>
          <a:xfrm>
            <a:off x="2478024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标注审核</a:t>
            </a:r>
            <a:endParaRPr lang="zh-CN" sz="13"/>
          </a:p>
          <a:extLst/>
        </p:txBody>
      </p:sp>
      <p:sp>
        <p:nvSpPr>
          <p:cNvPr id="14" name="Text 矩形 · 多边形 · 关"/>
          <p:cNvSpPr/>
          <p:nvPr/>
        </p:nvSpPr>
        <p:spPr>
          <a:xfrm>
            <a:off x="2450591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矩形 · 多边形 · 关键点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Caption · 统一提交</a:t>
            </a:r>
            <a:endParaRPr lang="zh-CN" sz="8"/>
          </a:p>
          <a:extLst/>
        </p:txBody>
      </p:sp>
      <p:cxnSp>
        <p:nvCxnSpPr>
          <p:cNvPr id="15" name="Connector"/>
          <p:cNvCxnSpPr/>
          <p:nvPr/>
        </p:nvCxnSpPr>
        <p:spPr>
          <a:xfrm>
            <a:off x="3739896" y="2852928"/>
            <a:ext cx="310895" cy="18288"/>
          </a:xfrm>
          <a:prstGeom prst="line">
            <a:avLst/>
          </a:prstGeom>
          <a:ln w="25400">
            <a:solidFill>
              <a:srgbClr val="42D7E8"/>
            </a:solidFill>
            <a:tailEnd type="none"/>
            <a:headEnd type="triangle" w="med" len="med"/>
          </a:ln>
        </p:spPr>
      </p:cxnSp>
      <p:sp>
        <p:nvSpPr>
          <p:cNvPr id="16" name="标准格式"/>
          <p:cNvSpPr/>
          <p:nvPr/>
        </p:nvSpPr>
        <p:spPr>
          <a:xfrm>
            <a:off x="4096512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17" name="标准格式 number"/>
          <p:cNvSpPr/>
          <p:nvPr/>
        </p:nvSpPr>
        <p:spPr>
          <a:xfrm>
            <a:off x="4242816" y="2340864"/>
            <a:ext cx="356616" cy="256032"/>
          </a:xfrm>
          <a:prstGeom prst="roundRect">
            <a:avLst/>
          </a:prstGeom>
          <a:solidFill>
            <a:srgbClr val="E8F8F4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20B8A5"/>
                </a:solidFill>
              </a:rPr>
              <a:t>03</a:t>
            </a:r>
            <a:endParaRPr lang="zh-CN" sz="8"/>
          </a:p>
          <a:extLst/>
        </p:txBody>
      </p:sp>
      <p:sp>
        <p:nvSpPr>
          <p:cNvPr id="18" name="Text 标准格式"/>
          <p:cNvSpPr/>
          <p:nvPr/>
        </p:nvSpPr>
        <p:spPr>
          <a:xfrm>
            <a:off x="4242816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标准格式</a:t>
            </a:r>
            <a:endParaRPr lang="zh-CN" sz="13"/>
          </a:p>
          <a:extLst/>
        </p:txBody>
      </p:sp>
      <p:sp>
        <p:nvSpPr>
          <p:cNvPr id="19" name="Text YOLO · COCO "/>
          <p:cNvSpPr/>
          <p:nvPr/>
        </p:nvSpPr>
        <p:spPr>
          <a:xfrm>
            <a:off x="4215384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YOLO · COCO · VOC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Mask · Keypoints · Image Folder</a:t>
            </a:r>
            <a:endParaRPr lang="zh-CN" sz="8"/>
          </a:p>
          <a:extLst/>
        </p:txBody>
      </p:sp>
      <p:cxnSp>
        <p:nvCxnSpPr>
          <p:cNvPr id="20" name="Connector"/>
          <p:cNvCxnSpPr/>
          <p:nvPr/>
        </p:nvCxnSpPr>
        <p:spPr>
          <a:xfrm>
            <a:off x="5504688" y="2852928"/>
            <a:ext cx="310895" cy="18288"/>
          </a:xfrm>
          <a:prstGeom prst="line">
            <a:avLst/>
          </a:prstGeom>
          <a:ln w="25400">
            <a:solidFill>
              <a:srgbClr val="20B8A5"/>
            </a:solidFill>
            <a:tailEnd type="none"/>
            <a:headEnd type="triangle" w="med" len="med"/>
          </a:ln>
        </p:spPr>
      </p:cxnSp>
      <p:sp>
        <p:nvSpPr>
          <p:cNvPr id="21" name="真实训练"/>
          <p:cNvSpPr/>
          <p:nvPr/>
        </p:nvSpPr>
        <p:spPr>
          <a:xfrm>
            <a:off x="5861304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22" name="真实训练 number"/>
          <p:cNvSpPr/>
          <p:nvPr/>
        </p:nvSpPr>
        <p:spPr>
          <a:xfrm>
            <a:off x="6007608" y="2340864"/>
            <a:ext cx="356616" cy="256032"/>
          </a:xfrm>
          <a:prstGeom prst="roundRect">
            <a:avLst/>
          </a:prstGeom>
          <a:solidFill>
            <a:srgbClr val="F1ED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8066E8"/>
                </a:solidFill>
              </a:rPr>
              <a:t>04</a:t>
            </a:r>
            <a:endParaRPr lang="zh-CN" sz="8"/>
          </a:p>
          <a:extLst/>
        </p:txBody>
      </p:sp>
      <p:sp>
        <p:nvSpPr>
          <p:cNvPr id="23" name="Text 真实训练"/>
          <p:cNvSpPr/>
          <p:nvPr/>
        </p:nvSpPr>
        <p:spPr>
          <a:xfrm>
            <a:off x="6007608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真实训练</a:t>
            </a:r>
            <a:endParaRPr lang="zh-CN" sz="13"/>
          </a:p>
          <a:extLst/>
        </p:txBody>
      </p:sp>
      <p:sp>
        <p:nvSpPr>
          <p:cNvPr id="24" name="Text YOLO · SegFo"/>
          <p:cNvSpPr/>
          <p:nvPr/>
        </p:nvSpPr>
        <p:spPr>
          <a:xfrm>
            <a:off x="5980176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YOLO · SegFormer · HRNet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SDXL LoRA</a:t>
            </a:r>
            <a:endParaRPr lang="zh-CN" sz="8"/>
          </a:p>
          <a:extLst/>
        </p:txBody>
      </p:sp>
      <p:cxnSp>
        <p:nvCxnSpPr>
          <p:cNvPr id="25" name="Connector"/>
          <p:cNvCxnSpPr/>
          <p:nvPr/>
        </p:nvCxnSpPr>
        <p:spPr>
          <a:xfrm>
            <a:off x="7269480" y="2852928"/>
            <a:ext cx="310895" cy="18288"/>
          </a:xfrm>
          <a:prstGeom prst="line">
            <a:avLst/>
          </a:prstGeom>
          <a:ln w="25400">
            <a:solidFill>
              <a:srgbClr val="8066E8"/>
            </a:solidFill>
            <a:tailEnd type="none"/>
            <a:headEnd type="triangle" w="med" len="med"/>
          </a:ln>
        </p:spPr>
      </p:cxnSp>
      <p:sp>
        <p:nvSpPr>
          <p:cNvPr id="26" name="模型仓库"/>
          <p:cNvSpPr/>
          <p:nvPr/>
        </p:nvSpPr>
        <p:spPr>
          <a:xfrm>
            <a:off x="7626096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27" name="模型仓库 number"/>
          <p:cNvSpPr/>
          <p:nvPr/>
        </p:nvSpPr>
        <p:spPr>
          <a:xfrm>
            <a:off x="7772400" y="2340864"/>
            <a:ext cx="356616" cy="256032"/>
          </a:xfrm>
          <a:prstGeom prst="roundRect">
            <a:avLst/>
          </a:prstGeom>
          <a:solidFill>
            <a:srgbClr val="FFF2E4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F39A45"/>
                </a:solidFill>
              </a:rPr>
              <a:t>05</a:t>
            </a:r>
            <a:endParaRPr lang="zh-CN" sz="8"/>
          </a:p>
          <a:extLst/>
        </p:txBody>
      </p:sp>
      <p:sp>
        <p:nvSpPr>
          <p:cNvPr id="28" name="Text 模型仓库"/>
          <p:cNvSpPr/>
          <p:nvPr/>
        </p:nvSpPr>
        <p:spPr>
          <a:xfrm>
            <a:off x="7772400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模型仓库</a:t>
            </a:r>
            <a:endParaRPr lang="zh-CN" sz="13"/>
          </a:p>
          <a:extLst/>
        </p:txBody>
      </p:sp>
      <p:sp>
        <p:nvSpPr>
          <p:cNvPr id="29" name="Text 版本 · 指标 · 血缘"/>
          <p:cNvSpPr/>
          <p:nvPr/>
        </p:nvSpPr>
        <p:spPr>
          <a:xfrm>
            <a:off x="7744968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版本 · 指标 · 血缘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阶段 · 审计</a:t>
            </a:r>
            <a:endParaRPr lang="zh-CN" sz="8"/>
          </a:p>
          <a:extLst/>
        </p:txBody>
      </p:sp>
      <p:cxnSp>
        <p:nvCxnSpPr>
          <p:cNvPr id="30" name="Connector"/>
          <p:cNvCxnSpPr/>
          <p:nvPr/>
        </p:nvCxnSpPr>
        <p:spPr>
          <a:xfrm>
            <a:off x="9034272" y="2852928"/>
            <a:ext cx="310895" cy="182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sp>
        <p:nvSpPr>
          <p:cNvPr id="31" name="转换交付"/>
          <p:cNvSpPr/>
          <p:nvPr/>
        </p:nvSpPr>
        <p:spPr>
          <a:xfrm>
            <a:off x="9390888" y="2176272"/>
            <a:ext cx="1389888" cy="13533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6672"/>
            </a:solidFill>
          </a:ln>
        </p:spPr>
      </p:sp>
      <p:sp>
        <p:nvSpPr>
          <p:cNvPr id="32" name="转换交付 number"/>
          <p:cNvSpPr/>
          <p:nvPr/>
        </p:nvSpPr>
        <p:spPr>
          <a:xfrm>
            <a:off x="9537192" y="2340864"/>
            <a:ext cx="356616" cy="256032"/>
          </a:xfrm>
          <a:prstGeom prst="roundRect">
            <a:avLst/>
          </a:prstGeom>
          <a:solidFill>
            <a:srgbClr val="E8F3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EC6672"/>
                </a:solidFill>
              </a:rPr>
              <a:t>06</a:t>
            </a:r>
            <a:endParaRPr lang="zh-CN" sz="8"/>
          </a:p>
          <a:extLst/>
        </p:txBody>
      </p:sp>
      <p:sp>
        <p:nvSpPr>
          <p:cNvPr id="33" name="Text 转换交付"/>
          <p:cNvSpPr/>
          <p:nvPr/>
        </p:nvSpPr>
        <p:spPr>
          <a:xfrm>
            <a:off x="9537192" y="2724912"/>
            <a:ext cx="10972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3283A"/>
                </a:solidFill>
              </a:rPr>
              <a:t>转换交付</a:t>
            </a:r>
            <a:endParaRPr lang="zh-CN" sz="13"/>
          </a:p>
          <a:extLst/>
        </p:txBody>
      </p:sp>
      <p:sp>
        <p:nvSpPr>
          <p:cNvPr id="34" name="Text ONNX · Tenso"/>
          <p:cNvSpPr/>
          <p:nvPr/>
        </p:nvSpPr>
        <p:spPr>
          <a:xfrm>
            <a:off x="9509760" y="3063240"/>
            <a:ext cx="1152144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ONNX · TensorRT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TorchScript · OpenVINO</a:t>
            </a:r>
            <a:endParaRPr lang="zh-CN" sz="8"/>
          </a:p>
          <a:extLst/>
        </p:txBody>
      </p:sp>
      <p:sp>
        <p:nvSpPr>
          <p:cNvPr id="35" name="traceability ribbon"/>
          <p:cNvSpPr/>
          <p:nvPr/>
        </p:nvSpPr>
        <p:spPr>
          <a:xfrm>
            <a:off x="960120" y="4251960"/>
            <a:ext cx="10287000" cy="868680"/>
          </a:xfrm>
          <a:prstGeom prst="roundRect">
            <a:avLst/>
          </a:prstGeom>
          <a:solidFill>
            <a:srgbClr val="0D2940"/>
          </a:solidFill>
          <a:ln w="12700">
            <a:noFill/>
          </a:ln>
        </p:spPr>
      </p:sp>
      <p:sp>
        <p:nvSpPr>
          <p:cNvPr id="36" name="Text 全链路可追溯"/>
          <p:cNvSpPr/>
          <p:nvPr/>
        </p:nvSpPr>
        <p:spPr>
          <a:xfrm>
            <a:off x="1243584" y="4498848"/>
            <a:ext cx="114300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全链路可追溯</a:t>
            </a:r>
            <a:endParaRPr lang="zh-CN" sz="11"/>
          </a:p>
          <a:extLst/>
        </p:txBody>
      </p:sp>
      <p:sp>
        <p:nvSpPr>
          <p:cNvPr id="37" name="Text Workspace → "/>
          <p:cNvSpPr/>
          <p:nvPr/>
        </p:nvSpPr>
        <p:spPr>
          <a:xfrm>
            <a:off x="2542032" y="4453128"/>
            <a:ext cx="82753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FFFFFF"/>
                </a:solidFill>
              </a:rPr>
              <a:t>Workspace → Dataset → Annotation Revision → Training Job → Model Version → Conversion Artifact</a:t>
            </a:r>
            <a:endParaRPr lang="zh-CN" sz="13"/>
          </a:p>
          <a:extLst/>
        </p:txBody>
      </p:sp>
      <p:sp>
        <p:nvSpPr>
          <p:cNvPr id="38" name="用户体验"/>
          <p:cNvSpPr/>
          <p:nvPr/>
        </p:nvSpPr>
        <p:spPr>
          <a:xfrm>
            <a:off x="960120" y="5394960"/>
            <a:ext cx="306324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39" name="用户体验 accent"/>
          <p:cNvSpPr/>
          <p:nvPr/>
        </p:nvSpPr>
        <p:spPr>
          <a:xfrm>
            <a:off x="960120" y="5394960"/>
            <a:ext cx="68580" cy="566928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0" name="Text 用户体验"/>
          <p:cNvSpPr/>
          <p:nvPr/>
        </p:nvSpPr>
        <p:spPr>
          <a:xfrm>
            <a:off x="1179576" y="5486400"/>
            <a:ext cx="27066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用户体验</a:t>
            </a:r>
            <a:endParaRPr lang="zh-CN" sz="9"/>
          </a:p>
          <a:extLst/>
        </p:txBody>
      </p:sp>
      <p:sp>
        <p:nvSpPr>
          <p:cNvPr id="41" name="Text 页面只关心状态和制品，不"/>
          <p:cNvSpPr/>
          <p:nvPr/>
        </p:nvSpPr>
        <p:spPr>
          <a:xfrm>
            <a:off x="1179576" y="5669280"/>
            <a:ext cx="2706624" cy="25603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页面只关心状态和制品，不承担执行细节</a:t>
            </a:r>
            <a:endParaRPr lang="zh-CN" sz="7"/>
          </a:p>
          <a:extLst/>
        </p:txBody>
      </p:sp>
      <p:sp>
        <p:nvSpPr>
          <p:cNvPr id="42" name="系统治理"/>
          <p:cNvSpPr/>
          <p:nvPr/>
        </p:nvSpPr>
        <p:spPr>
          <a:xfrm>
            <a:off x="4553712" y="5394960"/>
            <a:ext cx="306324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43" name="系统治理 accent"/>
          <p:cNvSpPr/>
          <p:nvPr/>
        </p:nvSpPr>
        <p:spPr>
          <a:xfrm>
            <a:off x="4553712" y="5394960"/>
            <a:ext cx="68580" cy="566928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44" name="Text 系统治理"/>
          <p:cNvSpPr/>
          <p:nvPr/>
        </p:nvSpPr>
        <p:spPr>
          <a:xfrm>
            <a:off x="4773168" y="5486400"/>
            <a:ext cx="27066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系统治理</a:t>
            </a:r>
            <a:endParaRPr lang="zh-CN" sz="9"/>
          </a:p>
          <a:extLst/>
        </p:txBody>
      </p:sp>
      <p:sp>
        <p:nvSpPr>
          <p:cNvPr id="45" name="Text 数据库记录状态，Redi"/>
          <p:cNvSpPr/>
          <p:nvPr/>
        </p:nvSpPr>
        <p:spPr>
          <a:xfrm>
            <a:off x="4773168" y="5669280"/>
            <a:ext cx="2706624" cy="25603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数据库记录状态，Redis 只负责调度</a:t>
            </a:r>
            <a:endParaRPr lang="zh-CN" sz="7"/>
          </a:p>
          <a:extLst/>
        </p:txBody>
      </p:sp>
      <p:sp>
        <p:nvSpPr>
          <p:cNvPr id="46" name="工程边界"/>
          <p:cNvSpPr/>
          <p:nvPr/>
        </p:nvSpPr>
        <p:spPr>
          <a:xfrm>
            <a:off x="8147304" y="5394960"/>
            <a:ext cx="306324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47" name="工程边界 accent"/>
          <p:cNvSpPr/>
          <p:nvPr/>
        </p:nvSpPr>
        <p:spPr>
          <a:xfrm>
            <a:off x="8147304" y="5394960"/>
            <a:ext cx="68580" cy="566928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48" name="Text 工程边界"/>
          <p:cNvSpPr/>
          <p:nvPr/>
        </p:nvSpPr>
        <p:spPr>
          <a:xfrm>
            <a:off x="8366760" y="5486400"/>
            <a:ext cx="2706624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3283A"/>
                </a:solidFill>
              </a:rPr>
              <a:t>工程边界</a:t>
            </a:r>
            <a:endParaRPr lang="zh-CN" sz="9"/>
          </a:p>
          <a:extLst/>
        </p:txBody>
      </p:sp>
      <p:sp>
        <p:nvSpPr>
          <p:cNvPr id="49" name="Text Worker 可独立升级"/>
          <p:cNvSpPr/>
          <p:nvPr/>
        </p:nvSpPr>
        <p:spPr>
          <a:xfrm>
            <a:off x="8366760" y="5669280"/>
            <a:ext cx="2706624" cy="256031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Worker 可独立升级，失败不拖垮 API</a:t>
            </a:r>
            <a:endParaRPr lang="zh-CN" sz="7"/>
          </a:p>
          <a:extLst/>
        </p:txBody>
      </p:sp>
      <p:sp>
        <p:nvSpPr>
          <p:cNvPr id="50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51" name="Text 05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05</a:t>
            </a:r>
            <a:endParaRPr lang="zh-CN" sz="8"/>
          </a:p>
          <a:extLst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数据架构：领域真源与制品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数据架构：领域真源与制品存储分离</a:t>
            </a:r>
            <a:endParaRPr lang="zh-CN" sz="27"/>
          </a:p>
          <a:extLst/>
        </p:txBody>
      </p:sp>
      <p:sp>
        <p:nvSpPr>
          <p:cNvPr id="5" name="Text 数据不是文件夹，而是带版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数据不是文件夹，而是带版本和生命周期的资产</a:t>
            </a:r>
            <a:endParaRPr lang="zh-CN" sz="11"/>
          </a:p>
          <a:extLst/>
        </p:txBody>
      </p:sp>
      <p:sp>
        <p:nvSpPr>
          <p:cNvPr id="6" name="postgres domain"/>
          <p:cNvSpPr/>
          <p:nvPr/>
        </p:nvSpPr>
        <p:spPr>
          <a:xfrm>
            <a:off x="640080" y="1737360"/>
            <a:ext cx="48920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66E8"/>
            </a:solidFill>
          </a:ln>
        </p:spPr>
      </p:sp>
      <p:sp>
        <p:nvSpPr>
          <p:cNvPr id="7" name="Text PostgreSQL ·"/>
          <p:cNvSpPr/>
          <p:nvPr/>
        </p:nvSpPr>
        <p:spPr>
          <a:xfrm>
            <a:off x="914400" y="1993392"/>
            <a:ext cx="4297680" cy="25603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4" b="1">
                <a:latin typeface="Aptos"/>
                <a:ea typeface="Noto Sans CJK SC"/>
                <a:solidFill>
                  <a:srgbClr val="8066E8"/>
                </a:solidFill>
              </a:rPr>
              <a:t>PostgreSQL · 领域真源</a:t>
            </a:r>
            <a:endParaRPr lang="zh-CN" sz="14"/>
          </a:p>
          <a:extLst/>
        </p:txBody>
      </p:sp>
      <p:sp>
        <p:nvSpPr>
          <p:cNvPr id="8" name="datasets / images"/>
          <p:cNvSpPr/>
          <p:nvPr/>
        </p:nvSpPr>
        <p:spPr>
          <a:xfrm>
            <a:off x="914400" y="2542032"/>
            <a:ext cx="4297680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1685E8"/>
            </a:solidFill>
          </a:ln>
        </p:spPr>
      </p:sp>
      <p:sp>
        <p:nvSpPr>
          <p:cNvPr id="9" name="Text datasets / i"/>
          <p:cNvSpPr/>
          <p:nvPr/>
        </p:nvSpPr>
        <p:spPr>
          <a:xfrm>
            <a:off x="1069848" y="2615184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13283A"/>
                </a:solidFill>
              </a:rPr>
              <a:t>datasets / images</a:t>
            </a:r>
            <a:endParaRPr lang="zh-CN" sz="10"/>
          </a:p>
          <a:extLst/>
        </p:txBody>
      </p:sp>
      <p:sp>
        <p:nvSpPr>
          <p:cNvPr id="10" name="Text 数据集、版本、类别、切分"/>
          <p:cNvSpPr/>
          <p:nvPr/>
        </p:nvSpPr>
        <p:spPr>
          <a:xfrm>
            <a:off x="2670048" y="2615184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数据集、版本、类别、切分</a:t>
            </a:r>
            <a:endParaRPr lang="zh-CN" sz="8"/>
          </a:p>
          <a:extLst/>
        </p:txBody>
      </p:sp>
      <p:sp>
        <p:nvSpPr>
          <p:cNvPr id="11" name="annotations"/>
          <p:cNvSpPr/>
          <p:nvPr/>
        </p:nvSpPr>
        <p:spPr>
          <a:xfrm>
            <a:off x="914400" y="3273552"/>
            <a:ext cx="4297680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20B8A5"/>
            </a:solidFill>
          </a:ln>
        </p:spPr>
      </p:sp>
      <p:sp>
        <p:nvSpPr>
          <p:cNvPr id="12" name="Text annotations"/>
          <p:cNvSpPr/>
          <p:nvPr/>
        </p:nvSpPr>
        <p:spPr>
          <a:xfrm>
            <a:off x="1069848" y="3346704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13283A"/>
                </a:solidFill>
              </a:rPr>
              <a:t>annotations</a:t>
            </a:r>
            <a:endParaRPr lang="zh-CN" sz="10"/>
          </a:p>
          <a:extLst/>
        </p:txBody>
      </p:sp>
      <p:sp>
        <p:nvSpPr>
          <p:cNvPr id="13" name="Text JSONB 几何、Cap"/>
          <p:cNvSpPr/>
          <p:nvPr/>
        </p:nvSpPr>
        <p:spPr>
          <a:xfrm>
            <a:off x="2670048" y="3346704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JSONB 几何、Caption、审核状态、revision</a:t>
            </a:r>
            <a:endParaRPr lang="zh-CN" sz="8"/>
          </a:p>
          <a:extLst/>
        </p:txBody>
      </p:sp>
      <p:sp>
        <p:nvSpPr>
          <p:cNvPr id="14" name="training / conversion"/>
          <p:cNvSpPr/>
          <p:nvPr/>
        </p:nvSpPr>
        <p:spPr>
          <a:xfrm>
            <a:off x="914400" y="4005072"/>
            <a:ext cx="4297680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39A45"/>
            </a:solidFill>
          </a:ln>
        </p:spPr>
      </p:sp>
      <p:sp>
        <p:nvSpPr>
          <p:cNvPr id="15" name="Text training / c"/>
          <p:cNvSpPr/>
          <p:nvPr/>
        </p:nvSpPr>
        <p:spPr>
          <a:xfrm>
            <a:off x="1069848" y="4078224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13283A"/>
                </a:solidFill>
              </a:rPr>
              <a:t>training / conversion</a:t>
            </a:r>
            <a:endParaRPr lang="zh-CN" sz="10"/>
          </a:p>
          <a:extLst/>
        </p:txBody>
      </p:sp>
      <p:sp>
        <p:nvSpPr>
          <p:cNvPr id="16" name="Text 任务状态、配置、指标、资"/>
          <p:cNvSpPr/>
          <p:nvPr/>
        </p:nvSpPr>
        <p:spPr>
          <a:xfrm>
            <a:off x="2670048" y="4078224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任务状态、配置、指标、资源采样</a:t>
            </a:r>
            <a:endParaRPr lang="zh-CN" sz="8"/>
          </a:p>
          <a:extLst/>
        </p:txBody>
      </p:sp>
      <p:sp>
        <p:nvSpPr>
          <p:cNvPr id="17" name="models / artifacts"/>
          <p:cNvSpPr/>
          <p:nvPr/>
        </p:nvSpPr>
        <p:spPr>
          <a:xfrm>
            <a:off x="914400" y="4736592"/>
            <a:ext cx="4297680" cy="50292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8066E8"/>
            </a:solidFill>
          </a:ln>
        </p:spPr>
      </p:sp>
      <p:sp>
        <p:nvSpPr>
          <p:cNvPr id="18" name="Text models / art"/>
          <p:cNvSpPr/>
          <p:nvPr/>
        </p:nvSpPr>
        <p:spPr>
          <a:xfrm>
            <a:off x="1069848" y="4809744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13283A"/>
                </a:solidFill>
              </a:rPr>
              <a:t>models / artifacts</a:t>
            </a:r>
            <a:endParaRPr lang="zh-CN" sz="10"/>
          </a:p>
          <a:extLst/>
        </p:txBody>
      </p:sp>
      <p:sp>
        <p:nvSpPr>
          <p:cNvPr id="19" name="Text 版本、格式、哈希、来源、"/>
          <p:cNvSpPr/>
          <p:nvPr/>
        </p:nvSpPr>
        <p:spPr>
          <a:xfrm>
            <a:off x="2670048" y="4809744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版本、格式、哈希、来源、制品血缘</a:t>
            </a:r>
            <a:endParaRPr lang="zh-CN" sz="8"/>
          </a:p>
          <a:extLst/>
        </p:txBody>
      </p:sp>
      <p:sp>
        <p:nvSpPr>
          <p:cNvPr id="20" name="artifact storage"/>
          <p:cNvSpPr/>
          <p:nvPr/>
        </p:nvSpPr>
        <p:spPr>
          <a:xfrm>
            <a:off x="5870448" y="1737360"/>
            <a:ext cx="5669280" cy="41605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</p:sp>
      <p:sp>
        <p:nvSpPr>
          <p:cNvPr id="21" name="Text 共享制品卷 / S3 抽"/>
          <p:cNvSpPr/>
          <p:nvPr/>
        </p:nvSpPr>
        <p:spPr>
          <a:xfrm>
            <a:off x="6181344" y="1993392"/>
            <a:ext cx="4937760" cy="25603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4" b="1">
                <a:latin typeface="Aptos"/>
                <a:ea typeface="Noto Sans CJK SC"/>
                <a:solidFill>
                  <a:srgbClr val="42D7E8"/>
                </a:solidFill>
              </a:rPr>
              <a:t>共享制品卷 / S3 抽象</a:t>
            </a:r>
            <a:endParaRPr lang="zh-CN" sz="14"/>
          </a:p>
          <a:extLst/>
        </p:txBody>
      </p:sp>
      <p:sp>
        <p:nvSpPr>
          <p:cNvPr id="22" name="datasets/&lt;datasetId&gt;/"/>
          <p:cNvSpPr/>
          <p:nvPr/>
        </p:nvSpPr>
        <p:spPr>
          <a:xfrm>
            <a:off x="6272784" y="2606040"/>
            <a:ext cx="4800600" cy="420624"/>
          </a:xfrm>
          <a:prstGeom prst="roundRect">
            <a:avLst/>
          </a:prstGeom>
          <a:solidFill>
            <a:srgbClr val="081B2B"/>
          </a:solidFill>
          <a:ln w="12700">
            <a:solidFill>
              <a:srgbClr val="1685E8"/>
            </a:solidFill>
          </a:ln>
        </p:spPr>
      </p:sp>
      <p:sp>
        <p:nvSpPr>
          <p:cNvPr id="23" name="Text datasets/&lt;da"/>
          <p:cNvSpPr/>
          <p:nvPr/>
        </p:nvSpPr>
        <p:spPr>
          <a:xfrm>
            <a:off x="6437376" y="2679192"/>
            <a:ext cx="25146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FFFFF"/>
                </a:solidFill>
              </a:rPr>
              <a:t>datasets/&lt;datasetId&gt;/</a:t>
            </a:r>
            <a:endParaRPr lang="zh-CN" sz="9"/>
          </a:p>
          <a:extLst/>
        </p:txBody>
      </p:sp>
      <p:sp>
        <p:nvSpPr>
          <p:cNvPr id="24" name="Text 原始图片"/>
          <p:cNvSpPr/>
          <p:nvPr/>
        </p:nvSpPr>
        <p:spPr>
          <a:xfrm>
            <a:off x="9125712" y="2679192"/>
            <a:ext cx="16002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B8D0DE"/>
                </a:solidFill>
              </a:rPr>
              <a:t>原始图片</a:t>
            </a:r>
            <a:endParaRPr lang="zh-CN" sz="8"/>
          </a:p>
          <a:extLst/>
        </p:txBody>
      </p:sp>
      <p:sp>
        <p:nvSpPr>
          <p:cNvPr id="25" name="exports/&lt;exportId&gt;/"/>
          <p:cNvSpPr/>
          <p:nvPr/>
        </p:nvSpPr>
        <p:spPr>
          <a:xfrm>
            <a:off x="6272784" y="3273552"/>
            <a:ext cx="4800600" cy="420624"/>
          </a:xfrm>
          <a:prstGeom prst="roundRect">
            <a:avLst/>
          </a:prstGeom>
          <a:solidFill>
            <a:srgbClr val="081B2B"/>
          </a:solidFill>
          <a:ln w="12700">
            <a:solidFill>
              <a:srgbClr val="F39A45"/>
            </a:solidFill>
          </a:ln>
        </p:spPr>
      </p:sp>
      <p:sp>
        <p:nvSpPr>
          <p:cNvPr id="26" name="Text exports/&lt;exp"/>
          <p:cNvSpPr/>
          <p:nvPr/>
        </p:nvSpPr>
        <p:spPr>
          <a:xfrm>
            <a:off x="6437376" y="3346704"/>
            <a:ext cx="25146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FFFFF"/>
                </a:solidFill>
              </a:rPr>
              <a:t>exports/&lt;exportId&gt;/</a:t>
            </a:r>
            <a:endParaRPr lang="zh-CN" sz="9"/>
          </a:p>
          <a:extLst/>
        </p:txBody>
      </p:sp>
      <p:sp>
        <p:nvSpPr>
          <p:cNvPr id="27" name="Text ZIP 与 manife"/>
          <p:cNvSpPr/>
          <p:nvPr/>
        </p:nvSpPr>
        <p:spPr>
          <a:xfrm>
            <a:off x="9125712" y="3346704"/>
            <a:ext cx="16002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B8D0DE"/>
                </a:solidFill>
              </a:rPr>
              <a:t>ZIP 与 manifest</a:t>
            </a:r>
            <a:endParaRPr lang="zh-CN" sz="8"/>
          </a:p>
          <a:extLst/>
        </p:txBody>
      </p:sp>
      <p:sp>
        <p:nvSpPr>
          <p:cNvPr id="28" name="training/&lt;jobId&gt;/"/>
          <p:cNvSpPr/>
          <p:nvPr/>
        </p:nvSpPr>
        <p:spPr>
          <a:xfrm>
            <a:off x="6272784" y="3941063"/>
            <a:ext cx="4800600" cy="420624"/>
          </a:xfrm>
          <a:prstGeom prst="roundRect">
            <a:avLst/>
          </a:prstGeom>
          <a:solidFill>
            <a:srgbClr val="081B2B"/>
          </a:solidFill>
          <a:ln w="12700">
            <a:solidFill>
              <a:srgbClr val="20B8A5"/>
            </a:solidFill>
          </a:ln>
        </p:spPr>
      </p:sp>
      <p:sp>
        <p:nvSpPr>
          <p:cNvPr id="29" name="Text training/&lt;jo"/>
          <p:cNvSpPr/>
          <p:nvPr/>
        </p:nvSpPr>
        <p:spPr>
          <a:xfrm>
            <a:off x="6437376" y="4014215"/>
            <a:ext cx="25146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FFFFF"/>
                </a:solidFill>
              </a:rPr>
              <a:t>training/&lt;jobId&gt;/</a:t>
            </a:r>
            <a:endParaRPr lang="zh-CN" sz="9"/>
          </a:p>
          <a:extLst/>
        </p:txBody>
      </p:sp>
      <p:sp>
        <p:nvSpPr>
          <p:cNvPr id="30" name="Text best.pt / sa"/>
          <p:cNvSpPr/>
          <p:nvPr/>
        </p:nvSpPr>
        <p:spPr>
          <a:xfrm>
            <a:off x="9125712" y="4014215"/>
            <a:ext cx="16002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B8D0DE"/>
                </a:solidFill>
              </a:rPr>
              <a:t>best.pt / safetensors</a:t>
            </a:r>
            <a:endParaRPr lang="zh-CN" sz="8"/>
          </a:p>
          <a:extLst/>
        </p:txBody>
      </p:sp>
      <p:sp>
        <p:nvSpPr>
          <p:cNvPr id="31" name="conversions/&lt;taskId&gt;/"/>
          <p:cNvSpPr/>
          <p:nvPr/>
        </p:nvSpPr>
        <p:spPr>
          <a:xfrm>
            <a:off x="6272784" y="4608576"/>
            <a:ext cx="4800600" cy="420624"/>
          </a:xfrm>
          <a:prstGeom prst="roundRect">
            <a:avLst/>
          </a:prstGeom>
          <a:solidFill>
            <a:srgbClr val="081B2B"/>
          </a:solidFill>
          <a:ln w="12700">
            <a:solidFill>
              <a:srgbClr val="8066E8"/>
            </a:solidFill>
          </a:ln>
        </p:spPr>
      </p:sp>
      <p:sp>
        <p:nvSpPr>
          <p:cNvPr id="32" name="Text conversions/"/>
          <p:cNvSpPr/>
          <p:nvPr/>
        </p:nvSpPr>
        <p:spPr>
          <a:xfrm>
            <a:off x="6437376" y="4681728"/>
            <a:ext cx="25146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FFFFF"/>
                </a:solidFill>
              </a:rPr>
              <a:t>conversions/&lt;taskId&gt;/</a:t>
            </a:r>
            <a:endParaRPr lang="zh-CN" sz="9"/>
          </a:p>
          <a:extLst/>
        </p:txBody>
      </p:sp>
      <p:sp>
        <p:nvSpPr>
          <p:cNvPr id="33" name="Text ONNX / engin"/>
          <p:cNvSpPr/>
          <p:nvPr/>
        </p:nvSpPr>
        <p:spPr>
          <a:xfrm>
            <a:off x="9125712" y="4681728"/>
            <a:ext cx="1600200" cy="146304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B8D0DE"/>
                </a:solidFill>
              </a:rPr>
              <a:t>ONNX / engine / XML+BIN</a:t>
            </a:r>
            <a:endParaRPr lang="zh-CN" sz="8"/>
          </a:p>
          <a:extLst/>
        </p:txBody>
      </p:sp>
      <p:sp>
        <p:nvSpPr>
          <p:cNvPr id="34" name="Text model-cache："/>
          <p:cNvSpPr/>
          <p:nvPr/>
        </p:nvSpPr>
        <p:spPr>
          <a:xfrm>
            <a:off x="6263640" y="5330952"/>
            <a:ext cx="4754880" cy="22860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39A45"/>
                </a:solidFill>
              </a:rPr>
              <a:t>model-cache：部署级预训练缓存，业务删除永不触碰</a:t>
            </a:r>
            <a:endParaRPr lang="zh-CN" sz="9"/>
          </a:p>
          <a:extLst/>
        </p:txBody>
      </p:sp>
      <p:cxnSp>
        <p:nvCxnSpPr>
          <p:cNvPr id="35" name="Connector"/>
          <p:cNvCxnSpPr/>
          <p:nvPr/>
        </p:nvCxnSpPr>
        <p:spPr>
          <a:xfrm>
            <a:off x="5532120" y="3749039"/>
            <a:ext cx="301752" cy="18288"/>
          </a:xfrm>
          <a:prstGeom prst="line">
            <a:avLst/>
          </a:prstGeom>
          <a:ln w="25400">
            <a:solidFill>
              <a:srgbClr val="8066E8"/>
            </a:solidFill>
            <a:tailEnd type="none"/>
            <a:headEnd type="triangle" w="med" len="med"/>
          </a:ln>
        </p:spPr>
      </p:cxnSp>
      <p:sp>
        <p:nvSpPr>
          <p:cNvPr id="36" name="Text 元数据"/>
          <p:cNvSpPr/>
          <p:nvPr/>
        </p:nvSpPr>
        <p:spPr>
          <a:xfrm>
            <a:off x="5440680" y="3950208"/>
            <a:ext cx="41148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元数据</a:t>
            </a:r>
            <a:endParaRPr lang="zh-CN" sz="8"/>
          </a:p>
          <a:extLst/>
        </p:txBody>
      </p:sp>
      <p:sp>
        <p:nvSpPr>
          <p:cNvPr id="37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38" name="Text 06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06</a:t>
            </a:r>
            <a:endParaRPr lang="zh-CN" sz="8"/>
          </a:p>
          <a:extLst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训练编排：配置校验先于资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训练编排：配置校验先于资源消耗</a:t>
            </a:r>
            <a:endParaRPr lang="zh-CN" sz="27"/>
          </a:p>
          <a:extLst/>
        </p:txBody>
      </p:sp>
      <p:sp>
        <p:nvSpPr>
          <p:cNvPr id="5" name="Text 训练任务的生命周期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训练任务的生命周期</a:t>
            </a:r>
            <a:endParaRPr lang="zh-CN" sz="11"/>
          </a:p>
          <a:extLst/>
        </p:txBody>
      </p:sp>
      <p:sp>
        <p:nvSpPr>
          <p:cNvPr id="6" name="创建"/>
          <p:cNvSpPr/>
          <p:nvPr/>
        </p:nvSpPr>
        <p:spPr>
          <a:xfrm>
            <a:off x="68580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7" name="Text 创建"/>
          <p:cNvSpPr/>
          <p:nvPr/>
        </p:nvSpPr>
        <p:spPr>
          <a:xfrm>
            <a:off x="795528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1685E8"/>
                </a:solidFill>
              </a:rPr>
              <a:t>创建</a:t>
            </a:r>
            <a:endParaRPr lang="zh-CN" sz="13"/>
          </a:p>
          <a:extLst/>
        </p:txBody>
      </p:sp>
      <p:sp>
        <p:nvSpPr>
          <p:cNvPr id="8" name="Text TrainingDraf"/>
          <p:cNvSpPr/>
          <p:nvPr/>
        </p:nvSpPr>
        <p:spPr>
          <a:xfrm>
            <a:off x="80467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TrainingDraft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版本 / 格式 / 参数</a:t>
            </a:r>
            <a:endParaRPr lang="zh-CN" sz="8"/>
          </a:p>
          <a:extLst/>
        </p:txBody>
      </p:sp>
      <p:cxnSp>
        <p:nvCxnSpPr>
          <p:cNvPr id="9" name="Connector"/>
          <p:cNvCxnSpPr/>
          <p:nvPr/>
        </p:nvCxnSpPr>
        <p:spPr>
          <a:xfrm>
            <a:off x="2057400" y="2761488"/>
            <a:ext cx="310895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sp>
        <p:nvSpPr>
          <p:cNvPr id="10" name="校验"/>
          <p:cNvSpPr/>
          <p:nvPr/>
        </p:nvSpPr>
        <p:spPr>
          <a:xfrm>
            <a:off x="242316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D7E8"/>
            </a:solidFill>
          </a:ln>
        </p:spPr>
      </p:sp>
      <p:sp>
        <p:nvSpPr>
          <p:cNvPr id="11" name="Text 校验"/>
          <p:cNvSpPr/>
          <p:nvPr/>
        </p:nvSpPr>
        <p:spPr>
          <a:xfrm>
            <a:off x="2532888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42D7E8"/>
                </a:solidFill>
              </a:rPr>
              <a:t>校验</a:t>
            </a:r>
            <a:endParaRPr lang="zh-CN" sz="13"/>
          </a:p>
          <a:extLst/>
        </p:txBody>
      </p:sp>
      <p:sp>
        <p:nvSpPr>
          <p:cNvPr id="12" name="Text 兼容矩阵&#10;数据集审核 ·"/>
          <p:cNvSpPr/>
          <p:nvPr/>
        </p:nvSpPr>
        <p:spPr>
          <a:xfrm>
            <a:off x="254203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兼容矩阵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数据集审核 · GPU 能力</a:t>
            </a:r>
            <a:endParaRPr lang="zh-CN" sz="8"/>
          </a:p>
          <a:extLst/>
        </p:txBody>
      </p:sp>
      <p:cxnSp>
        <p:nvCxnSpPr>
          <p:cNvPr id="13" name="Connector"/>
          <p:cNvCxnSpPr/>
          <p:nvPr/>
        </p:nvCxnSpPr>
        <p:spPr>
          <a:xfrm>
            <a:off x="3794760" y="2761488"/>
            <a:ext cx="310895" cy="18288"/>
          </a:xfrm>
          <a:prstGeom prst="line">
            <a:avLst/>
          </a:prstGeom>
          <a:ln w="25400">
            <a:solidFill>
              <a:srgbClr val="42D7E8"/>
            </a:solidFill>
            <a:tailEnd type="none"/>
            <a:headEnd type="triangle" w="med" len="med"/>
          </a:ln>
        </p:spPr>
      </p:cxnSp>
      <p:sp>
        <p:nvSpPr>
          <p:cNvPr id="14" name="入队"/>
          <p:cNvSpPr/>
          <p:nvPr/>
        </p:nvSpPr>
        <p:spPr>
          <a:xfrm>
            <a:off x="416052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15" name="Text 入队"/>
          <p:cNvSpPr/>
          <p:nvPr/>
        </p:nvSpPr>
        <p:spPr>
          <a:xfrm>
            <a:off x="4270248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F39A45"/>
                </a:solidFill>
              </a:rPr>
              <a:t>入队</a:t>
            </a:r>
            <a:endParaRPr lang="zh-CN" sz="13"/>
          </a:p>
          <a:extLst/>
        </p:txBody>
      </p:sp>
      <p:sp>
        <p:nvSpPr>
          <p:cNvPr id="16" name="Text BullMQ&#10;CPU /"/>
          <p:cNvSpPr/>
          <p:nvPr/>
        </p:nvSpPr>
        <p:spPr>
          <a:xfrm>
            <a:off x="427939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BullMQ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CPU / GPU queue</a:t>
            </a:r>
            <a:endParaRPr lang="zh-CN" sz="8"/>
          </a:p>
          <a:extLst/>
        </p:txBody>
      </p:sp>
      <p:cxnSp>
        <p:nvCxnSpPr>
          <p:cNvPr id="17" name="Connector"/>
          <p:cNvCxnSpPr/>
          <p:nvPr/>
        </p:nvCxnSpPr>
        <p:spPr>
          <a:xfrm>
            <a:off x="5532120" y="2761488"/>
            <a:ext cx="310895" cy="182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sp>
        <p:nvSpPr>
          <p:cNvPr id="18" name="执行"/>
          <p:cNvSpPr/>
          <p:nvPr/>
        </p:nvSpPr>
        <p:spPr>
          <a:xfrm>
            <a:off x="589788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19" name="Text 执行"/>
          <p:cNvSpPr/>
          <p:nvPr/>
        </p:nvSpPr>
        <p:spPr>
          <a:xfrm>
            <a:off x="6007608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8066E8"/>
                </a:solidFill>
              </a:rPr>
              <a:t>执行</a:t>
            </a:r>
            <a:endParaRPr lang="zh-CN" sz="13"/>
          </a:p>
          <a:extLst/>
        </p:txBody>
      </p:sp>
      <p:sp>
        <p:nvSpPr>
          <p:cNvPr id="20" name="Text Python Runne"/>
          <p:cNvSpPr/>
          <p:nvPr/>
        </p:nvSpPr>
        <p:spPr>
          <a:xfrm>
            <a:off x="601675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Python Runner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真实反向传播</a:t>
            </a:r>
            <a:endParaRPr lang="zh-CN" sz="8"/>
          </a:p>
          <a:extLst/>
        </p:txBody>
      </p:sp>
      <p:cxnSp>
        <p:nvCxnSpPr>
          <p:cNvPr id="21" name="Connector"/>
          <p:cNvCxnSpPr/>
          <p:nvPr/>
        </p:nvCxnSpPr>
        <p:spPr>
          <a:xfrm>
            <a:off x="7269480" y="2761488"/>
            <a:ext cx="310896" cy="18288"/>
          </a:xfrm>
          <a:prstGeom prst="line">
            <a:avLst/>
          </a:prstGeom>
          <a:ln w="25400">
            <a:solidFill>
              <a:srgbClr val="8066E8"/>
            </a:solidFill>
            <a:tailEnd type="none"/>
            <a:headEnd type="triangle" w="med" len="med"/>
          </a:ln>
        </p:spPr>
      </p:cxnSp>
      <p:sp>
        <p:nvSpPr>
          <p:cNvPr id="22" name="观测"/>
          <p:cNvSpPr/>
          <p:nvPr/>
        </p:nvSpPr>
        <p:spPr>
          <a:xfrm>
            <a:off x="763524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23" name="Text 观测"/>
          <p:cNvSpPr/>
          <p:nvPr/>
        </p:nvSpPr>
        <p:spPr>
          <a:xfrm>
            <a:off x="7744967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20B8A5"/>
                </a:solidFill>
              </a:rPr>
              <a:t>观测</a:t>
            </a:r>
            <a:endParaRPr lang="zh-CN" sz="13"/>
          </a:p>
          <a:extLst/>
        </p:txBody>
      </p:sp>
      <p:sp>
        <p:nvSpPr>
          <p:cNvPr id="24" name="Text 事件 · Epoch&#10;指"/>
          <p:cNvSpPr/>
          <p:nvPr/>
        </p:nvSpPr>
        <p:spPr>
          <a:xfrm>
            <a:off x="775411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事件 · Epoch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指标 · 资源</a:t>
            </a:r>
            <a:endParaRPr lang="zh-CN" sz="8"/>
          </a:p>
          <a:extLst/>
        </p:txBody>
      </p:sp>
      <p:cxnSp>
        <p:nvCxnSpPr>
          <p:cNvPr id="25" name="Connector"/>
          <p:cNvCxnSpPr/>
          <p:nvPr/>
        </p:nvCxnSpPr>
        <p:spPr>
          <a:xfrm>
            <a:off x="9006840" y="2761488"/>
            <a:ext cx="310895" cy="18288"/>
          </a:xfrm>
          <a:prstGeom prst="line">
            <a:avLst/>
          </a:prstGeom>
          <a:ln w="25400">
            <a:solidFill>
              <a:srgbClr val="20B8A5"/>
            </a:solidFill>
            <a:tailEnd type="none"/>
            <a:headEnd type="triangle" w="med" len="med"/>
          </a:ln>
        </p:spPr>
      </p:cxnSp>
      <p:sp>
        <p:nvSpPr>
          <p:cNvPr id="26" name="登记"/>
          <p:cNvSpPr/>
          <p:nvPr/>
        </p:nvSpPr>
        <p:spPr>
          <a:xfrm>
            <a:off x="9372600" y="2103120"/>
            <a:ext cx="133502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6672"/>
            </a:solidFill>
          </a:ln>
        </p:spPr>
      </p:sp>
      <p:sp>
        <p:nvSpPr>
          <p:cNvPr id="27" name="Text 登记"/>
          <p:cNvSpPr/>
          <p:nvPr/>
        </p:nvSpPr>
        <p:spPr>
          <a:xfrm>
            <a:off x="9482328" y="2331720"/>
            <a:ext cx="1115568" cy="219456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EC6672"/>
                </a:solidFill>
              </a:rPr>
              <a:t>登记</a:t>
            </a:r>
            <a:endParaRPr lang="zh-CN" sz="13"/>
          </a:p>
          <a:extLst/>
        </p:txBody>
      </p:sp>
      <p:sp>
        <p:nvSpPr>
          <p:cNvPr id="28" name="Text best artifac"/>
          <p:cNvSpPr/>
          <p:nvPr/>
        </p:nvSpPr>
        <p:spPr>
          <a:xfrm>
            <a:off x="9491472" y="2761488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best artifact</a:t>
            </a:r>
            <a:br/>
            <a:r>
              <a:rPr lang="zh-CN" sz="8" b="0">
                <a:latin typeface="Aptos"/>
                <a:ea typeface="Noto Sans CJK SC"/>
                <a:solidFill>
                  <a:srgbClr val="668095"/>
                </a:solidFill>
              </a:rPr>
              <a:t>ModelVersion</a:t>
            </a:r>
            <a:endParaRPr lang="zh-CN" sz="8"/>
          </a:p>
          <a:extLst/>
        </p:txBody>
      </p:sp>
      <p:sp>
        <p:nvSpPr>
          <p:cNvPr id="29" name="state machine"/>
          <p:cNvSpPr/>
          <p:nvPr/>
        </p:nvSpPr>
        <p:spPr>
          <a:xfrm>
            <a:off x="685800" y="4069080"/>
            <a:ext cx="10021824" cy="1170432"/>
          </a:xfrm>
          <a:prstGeom prst="roundRect">
            <a:avLst/>
          </a:prstGeom>
          <a:solidFill>
            <a:srgbClr val="0D2940"/>
          </a:solidFill>
          <a:ln w="12700">
            <a:noFill/>
          </a:ln>
        </p:spPr>
      </p:sp>
      <p:sp>
        <p:nvSpPr>
          <p:cNvPr id="30" name="Text 状态机"/>
          <p:cNvSpPr/>
          <p:nvPr/>
        </p:nvSpPr>
        <p:spPr>
          <a:xfrm>
            <a:off x="932688" y="4297680"/>
            <a:ext cx="1234440" cy="20116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状态机</a:t>
            </a:r>
            <a:endParaRPr lang="zh-CN" sz="11"/>
          </a:p>
          <a:extLst/>
        </p:txBody>
      </p:sp>
      <p:sp>
        <p:nvSpPr>
          <p:cNvPr id="31" name="queued"/>
          <p:cNvSpPr/>
          <p:nvPr/>
        </p:nvSpPr>
        <p:spPr>
          <a:xfrm>
            <a:off x="2359152" y="4261104"/>
            <a:ext cx="91440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F39A45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F39A45"/>
                </a:solidFill>
              </a:rPr>
              <a:t>queued</a:t>
            </a:r>
            <a:endParaRPr lang="zh-CN" sz="9"/>
          </a:p>
          <a:extLst/>
        </p:txBody>
      </p:sp>
      <p:cxnSp>
        <p:nvCxnSpPr>
          <p:cNvPr id="32" name="Connector"/>
          <p:cNvCxnSpPr/>
          <p:nvPr/>
        </p:nvCxnSpPr>
        <p:spPr>
          <a:xfrm>
            <a:off x="3310128" y="4398264"/>
            <a:ext cx="329183" cy="18288"/>
          </a:xfrm>
          <a:prstGeom prst="line">
            <a:avLst/>
          </a:prstGeom>
          <a:ln w="25400">
            <a:solidFill>
              <a:srgbClr val="F39A45"/>
            </a:solidFill>
            <a:tailEnd type="none"/>
            <a:headEnd type="triangle" w="med" len="med"/>
          </a:ln>
        </p:spPr>
      </p:cxnSp>
      <p:sp>
        <p:nvSpPr>
          <p:cNvPr id="33" name="running"/>
          <p:cNvSpPr/>
          <p:nvPr/>
        </p:nvSpPr>
        <p:spPr>
          <a:xfrm>
            <a:off x="3730752" y="4261104"/>
            <a:ext cx="91440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1685E8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1685E8"/>
                </a:solidFill>
              </a:rPr>
              <a:t>running</a:t>
            </a:r>
            <a:endParaRPr lang="zh-CN" sz="9"/>
          </a:p>
          <a:extLst/>
        </p:txBody>
      </p:sp>
      <p:cxnSp>
        <p:nvCxnSpPr>
          <p:cNvPr id="34" name="Connector"/>
          <p:cNvCxnSpPr/>
          <p:nvPr/>
        </p:nvCxnSpPr>
        <p:spPr>
          <a:xfrm>
            <a:off x="4681728" y="4398264"/>
            <a:ext cx="329184" cy="18288"/>
          </a:xfrm>
          <a:prstGeom prst="line">
            <a:avLst/>
          </a:prstGeom>
          <a:ln w="25400">
            <a:solidFill>
              <a:srgbClr val="1685E8"/>
            </a:solidFill>
            <a:tailEnd type="none"/>
            <a:headEnd type="triangle" w="med" len="med"/>
          </a:ln>
        </p:spPr>
      </p:cxnSp>
      <p:sp>
        <p:nvSpPr>
          <p:cNvPr id="35" name="completed"/>
          <p:cNvSpPr/>
          <p:nvPr/>
        </p:nvSpPr>
        <p:spPr>
          <a:xfrm>
            <a:off x="5102352" y="4261104"/>
            <a:ext cx="100584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20B8A5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20B8A5"/>
                </a:solidFill>
              </a:rPr>
              <a:t>completed</a:t>
            </a:r>
            <a:endParaRPr lang="zh-CN" sz="9"/>
          </a:p>
          <a:extLst/>
        </p:txBody>
      </p:sp>
      <p:cxnSp>
        <p:nvCxnSpPr>
          <p:cNvPr id="36" name="Connector"/>
          <p:cNvCxnSpPr/>
          <p:nvPr/>
        </p:nvCxnSpPr>
        <p:spPr>
          <a:xfrm>
            <a:off x="6144768" y="4398264"/>
            <a:ext cx="329184" cy="18288"/>
          </a:xfrm>
          <a:prstGeom prst="line">
            <a:avLst/>
          </a:prstGeom>
          <a:ln w="25400">
            <a:solidFill>
              <a:srgbClr val="20B8A5"/>
            </a:solidFill>
            <a:tailEnd type="none"/>
            <a:headEnd type="triangle" w="med" len="med"/>
          </a:ln>
        </p:spPr>
      </p:cxnSp>
      <p:sp>
        <p:nvSpPr>
          <p:cNvPr id="37" name="failed"/>
          <p:cNvSpPr/>
          <p:nvPr/>
        </p:nvSpPr>
        <p:spPr>
          <a:xfrm>
            <a:off x="6565392" y="4261104"/>
            <a:ext cx="77724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EC6672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EC6672"/>
                </a:solidFill>
              </a:rPr>
              <a:t>failed</a:t>
            </a:r>
            <a:endParaRPr lang="zh-CN" sz="9"/>
          </a:p>
          <a:extLst/>
        </p:txBody>
      </p:sp>
      <p:cxnSp>
        <p:nvCxnSpPr>
          <p:cNvPr id="38" name="Connector"/>
          <p:cNvCxnSpPr/>
          <p:nvPr/>
        </p:nvCxnSpPr>
        <p:spPr>
          <a:xfrm>
            <a:off x="7379208" y="4398264"/>
            <a:ext cx="329183" cy="18288"/>
          </a:xfrm>
          <a:prstGeom prst="line">
            <a:avLst/>
          </a:prstGeom>
          <a:ln w="12700">
            <a:solidFill>
              <a:srgbClr val="EC6672"/>
            </a:solidFill>
            <a:prstDash val="dash"/>
            <a:tailEnd type="none"/>
            <a:headEnd type="triangle" w="med" len="med"/>
          </a:ln>
        </p:spPr>
      </p:cxnSp>
      <p:sp>
        <p:nvSpPr>
          <p:cNvPr id="39" name="retry"/>
          <p:cNvSpPr/>
          <p:nvPr/>
        </p:nvSpPr>
        <p:spPr>
          <a:xfrm>
            <a:off x="7808975" y="4261104"/>
            <a:ext cx="960120" cy="274320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8066E8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retry</a:t>
            </a:r>
            <a:endParaRPr lang="zh-CN" sz="9"/>
          </a:p>
          <a:extLst/>
        </p:txBody>
      </p:sp>
      <p:sp>
        <p:nvSpPr>
          <p:cNvPr id="40" name="Text 原失败记录保留"/>
          <p:cNvSpPr/>
          <p:nvPr/>
        </p:nvSpPr>
        <p:spPr>
          <a:xfrm>
            <a:off x="9052560" y="4315968"/>
            <a:ext cx="1298448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B8D0DE"/>
                </a:solidFill>
              </a:rPr>
              <a:t>原失败记录保留</a:t>
            </a:r>
            <a:endParaRPr lang="zh-CN" sz="9"/>
          </a:p>
          <a:extLst/>
        </p:txBody>
      </p:sp>
      <p:sp>
        <p:nvSpPr>
          <p:cNvPr id="41" name="数据格式真实生效"/>
          <p:cNvSpPr/>
          <p:nvPr/>
        </p:nvSpPr>
        <p:spPr>
          <a:xfrm>
            <a:off x="685800" y="5532120"/>
            <a:ext cx="303580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42" name="数据格式真实生效 accent"/>
          <p:cNvSpPr/>
          <p:nvPr/>
        </p:nvSpPr>
        <p:spPr>
          <a:xfrm>
            <a:off x="685800" y="5532120"/>
            <a:ext cx="68580" cy="438912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3" name="Text 数据格式真实生效"/>
          <p:cNvSpPr/>
          <p:nvPr/>
        </p:nvSpPr>
        <p:spPr>
          <a:xfrm>
            <a:off x="905256" y="5623559"/>
            <a:ext cx="2679192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13283A"/>
                </a:solidFill>
              </a:rPr>
              <a:t>数据格式真实生效</a:t>
            </a:r>
            <a:endParaRPr lang="zh-CN" sz="8"/>
          </a:p>
          <a:extLst/>
        </p:txBody>
      </p:sp>
      <p:sp>
        <p:nvSpPr>
          <p:cNvPr id="44" name="Text 先物化标准格式，再由框架"/>
          <p:cNvSpPr/>
          <p:nvPr/>
        </p:nvSpPr>
        <p:spPr>
          <a:xfrm>
            <a:off x="905256" y="5806440"/>
            <a:ext cx="2679192" cy="1280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先物化标准格式，再由框架原生加载</a:t>
            </a:r>
            <a:endParaRPr lang="zh-CN" sz="7"/>
          </a:p>
          <a:extLst/>
        </p:txBody>
      </p:sp>
      <p:sp>
        <p:nvSpPr>
          <p:cNvPr id="45" name="失败可解释"/>
          <p:cNvSpPr/>
          <p:nvPr/>
        </p:nvSpPr>
        <p:spPr>
          <a:xfrm>
            <a:off x="4023360" y="5532120"/>
            <a:ext cx="303580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46" name="失败可解释 accent"/>
          <p:cNvSpPr/>
          <p:nvPr/>
        </p:nvSpPr>
        <p:spPr>
          <a:xfrm>
            <a:off x="4023360" y="5532120"/>
            <a:ext cx="68580" cy="438912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47" name="Text 失败可解释"/>
          <p:cNvSpPr/>
          <p:nvPr/>
        </p:nvSpPr>
        <p:spPr>
          <a:xfrm>
            <a:off x="4242816" y="5623559"/>
            <a:ext cx="2679191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13283A"/>
                </a:solidFill>
              </a:rPr>
              <a:t>失败可解释</a:t>
            </a:r>
            <a:endParaRPr lang="zh-CN" sz="8"/>
          </a:p>
          <a:extLst/>
        </p:txBody>
      </p:sp>
      <p:sp>
        <p:nvSpPr>
          <p:cNvPr id="48" name="Text 事件、日志、错误原因持久"/>
          <p:cNvSpPr/>
          <p:nvPr/>
        </p:nvSpPr>
        <p:spPr>
          <a:xfrm>
            <a:off x="4242816" y="5806440"/>
            <a:ext cx="2679191" cy="1280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事件、日志、错误原因持久化</a:t>
            </a:r>
            <a:endParaRPr lang="zh-CN" sz="7"/>
          </a:p>
          <a:extLst/>
        </p:txBody>
      </p:sp>
      <p:sp>
        <p:nvSpPr>
          <p:cNvPr id="49" name="模型可复现"/>
          <p:cNvSpPr/>
          <p:nvPr/>
        </p:nvSpPr>
        <p:spPr>
          <a:xfrm>
            <a:off x="7360920" y="5532120"/>
            <a:ext cx="3346704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50" name="模型可复现 accent"/>
          <p:cNvSpPr/>
          <p:nvPr/>
        </p:nvSpPr>
        <p:spPr>
          <a:xfrm>
            <a:off x="7360920" y="5532120"/>
            <a:ext cx="68580" cy="438912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51" name="Text 模型可复现"/>
          <p:cNvSpPr/>
          <p:nvPr/>
        </p:nvSpPr>
        <p:spPr>
          <a:xfrm>
            <a:off x="7580376" y="5623559"/>
            <a:ext cx="2990088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1">
                <a:latin typeface="Aptos"/>
                <a:ea typeface="Noto Sans CJK SC"/>
                <a:solidFill>
                  <a:srgbClr val="13283A"/>
                </a:solidFill>
              </a:rPr>
              <a:t>模型可复现</a:t>
            </a:r>
            <a:endParaRPr lang="zh-CN" sz="8"/>
          </a:p>
          <a:extLst/>
        </p:txBody>
      </p:sp>
      <p:sp>
        <p:nvSpPr>
          <p:cNvPr id="52" name="Text 版本 + 配置 + 数据"/>
          <p:cNvSpPr/>
          <p:nvPr/>
        </p:nvSpPr>
        <p:spPr>
          <a:xfrm>
            <a:off x="7580376" y="5806440"/>
            <a:ext cx="2990088" cy="128015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7" b="0">
                <a:latin typeface="Aptos"/>
                <a:ea typeface="Noto Sans CJK SC"/>
                <a:solidFill>
                  <a:srgbClr val="668095"/>
                </a:solidFill>
              </a:rPr>
              <a:t>版本 + 配置 + 数据 + 硬件能力</a:t>
            </a:r>
            <a:endParaRPr lang="zh-CN" sz="7"/>
          </a:p>
          <a:extLst/>
        </p:txBody>
      </p:sp>
      <p:sp>
        <p:nvSpPr>
          <p:cNvPr id="53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54" name="Text 07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07</a:t>
            </a:r>
            <a:endParaRPr lang="zh-CN" sz="8"/>
          </a:p>
          <a:extLst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模型转换：以运行时为中心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模型转换：以运行时为中心的兼容矩阵</a:t>
            </a:r>
            <a:endParaRPr lang="zh-CN" sz="27"/>
          </a:p>
          <a:extLst/>
        </p:txBody>
      </p:sp>
      <p:sp>
        <p:nvSpPr>
          <p:cNvPr id="5" name="Text 四种部署格式的边界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四种部署格式的边界</a:t>
            </a:r>
            <a:endParaRPr lang="zh-CN" sz="11"/>
          </a:p>
          <a:extLst/>
        </p:txBody>
      </p:sp>
      <p:sp>
        <p:nvSpPr>
          <p:cNvPr id="6" name="格式"/>
          <p:cNvSpPr/>
          <p:nvPr/>
        </p:nvSpPr>
        <p:spPr>
          <a:xfrm>
            <a:off x="731520" y="1874519"/>
            <a:ext cx="1371600" cy="475488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格式</a:t>
            </a:r>
            <a:endParaRPr lang="zh-CN" sz="10"/>
          </a:p>
          <a:extLst/>
        </p:txBody>
      </p:sp>
      <p:sp>
        <p:nvSpPr>
          <p:cNvPr id="7" name="核心用途"/>
          <p:cNvSpPr/>
          <p:nvPr/>
        </p:nvSpPr>
        <p:spPr>
          <a:xfrm>
            <a:off x="2286000" y="1874519"/>
            <a:ext cx="2286000" cy="475488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核心用途</a:t>
            </a:r>
            <a:endParaRPr lang="zh-CN" sz="10"/>
          </a:p>
          <a:extLst/>
        </p:txBody>
      </p:sp>
      <p:sp>
        <p:nvSpPr>
          <p:cNvPr id="8" name="CPU 模式"/>
          <p:cNvSpPr/>
          <p:nvPr/>
        </p:nvSpPr>
        <p:spPr>
          <a:xfrm>
            <a:off x="4800600" y="1874519"/>
            <a:ext cx="1965960" cy="475488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CPU 模式</a:t>
            </a:r>
            <a:endParaRPr lang="zh-CN" sz="10"/>
          </a:p>
          <a:extLst/>
        </p:txBody>
      </p:sp>
      <p:sp>
        <p:nvSpPr>
          <p:cNvPr id="9" name="GPU 模式"/>
          <p:cNvSpPr/>
          <p:nvPr/>
        </p:nvSpPr>
        <p:spPr>
          <a:xfrm>
            <a:off x="6995160" y="1874519"/>
            <a:ext cx="1965960" cy="475488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GPU 模式</a:t>
            </a:r>
            <a:endParaRPr lang="zh-CN" sz="10"/>
          </a:p>
          <a:extLst/>
        </p:txBody>
      </p:sp>
      <p:sp>
        <p:nvSpPr>
          <p:cNvPr id="10" name="交付关注点"/>
          <p:cNvSpPr/>
          <p:nvPr/>
        </p:nvSpPr>
        <p:spPr>
          <a:xfrm>
            <a:off x="9189720" y="1874519"/>
            <a:ext cx="2148840" cy="475488"/>
          </a:xfrm>
          <a:prstGeom prst="roundRect">
            <a:avLst/>
          </a:prstGeom>
          <a:solidFill>
            <a:srgbClr val="0D2940"/>
          </a:solidFill>
          <a:ln w="12700">
            <a:solidFill>
              <a:srgbClr val="0D2940"/>
            </a:solidFill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交付关注点</a:t>
            </a:r>
            <a:endParaRPr lang="zh-CN" sz="10"/>
          </a:p>
          <a:extLst/>
        </p:txBody>
      </p:sp>
      <p:sp>
        <p:nvSpPr>
          <p:cNvPr id="11" name="ONNX cell"/>
          <p:cNvSpPr/>
          <p:nvPr/>
        </p:nvSpPr>
        <p:spPr>
          <a:xfrm>
            <a:off x="731520" y="245059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12" name="ONNX cell"/>
          <p:cNvSpPr/>
          <p:nvPr/>
        </p:nvSpPr>
        <p:spPr>
          <a:xfrm>
            <a:off x="2286000" y="2450592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13" name="ONNX cell"/>
          <p:cNvSpPr/>
          <p:nvPr/>
        </p:nvSpPr>
        <p:spPr>
          <a:xfrm>
            <a:off x="4800600" y="245059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14" name="ONNX cell"/>
          <p:cNvSpPr/>
          <p:nvPr/>
        </p:nvSpPr>
        <p:spPr>
          <a:xfrm>
            <a:off x="6995160" y="245059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15" name="ONNX cell"/>
          <p:cNvSpPr/>
          <p:nvPr/>
        </p:nvSpPr>
        <p:spPr>
          <a:xfrm>
            <a:off x="9189720" y="2450592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16" name="Text ONNX"/>
          <p:cNvSpPr/>
          <p:nvPr/>
        </p:nvSpPr>
        <p:spPr>
          <a:xfrm>
            <a:off x="914400" y="2596896"/>
            <a:ext cx="10058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1685E8"/>
                </a:solidFill>
              </a:rPr>
              <a:t>ONNX</a:t>
            </a:r>
            <a:endParaRPr lang="zh-CN" sz="11"/>
          </a:p>
          <a:extLst/>
        </p:txBody>
      </p:sp>
      <p:sp>
        <p:nvSpPr>
          <p:cNvPr id="17" name="Text 跨框架通用 Runtim"/>
          <p:cNvSpPr/>
          <p:nvPr/>
        </p:nvSpPr>
        <p:spPr>
          <a:xfrm>
            <a:off x="2468880" y="2596896"/>
            <a:ext cx="19202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13283A"/>
                </a:solidFill>
              </a:rPr>
              <a:t>跨框架通用 Runtime</a:t>
            </a:r>
            <a:endParaRPr lang="zh-CN" sz="9"/>
          </a:p>
          <a:extLst/>
        </p:txBody>
      </p:sp>
      <p:sp>
        <p:nvSpPr>
          <p:cNvPr id="18" name="Text FP32 ✓"/>
          <p:cNvSpPr/>
          <p:nvPr/>
        </p:nvSpPr>
        <p:spPr>
          <a:xfrm>
            <a:off x="4983480" y="2596896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20B8A5"/>
                </a:solidFill>
              </a:rPr>
              <a:t>FP32 ✓</a:t>
            </a:r>
            <a:endParaRPr lang="zh-CN" sz="9"/>
          </a:p>
          <a:extLst/>
        </p:txBody>
      </p:sp>
      <p:sp>
        <p:nvSpPr>
          <p:cNvPr id="19" name="Text FP32 / FP16 "/>
          <p:cNvSpPr/>
          <p:nvPr/>
        </p:nvSpPr>
        <p:spPr>
          <a:xfrm>
            <a:off x="7178040" y="2596896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FP32 / FP16 ✓</a:t>
            </a:r>
            <a:endParaRPr lang="zh-CN" sz="9"/>
          </a:p>
          <a:extLst/>
        </p:txBody>
      </p:sp>
      <p:sp>
        <p:nvSpPr>
          <p:cNvPr id="20" name="Text 动态轴、算子兼容"/>
          <p:cNvSpPr/>
          <p:nvPr/>
        </p:nvSpPr>
        <p:spPr>
          <a:xfrm>
            <a:off x="9372600" y="2596896"/>
            <a:ext cx="178308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668095"/>
                </a:solidFill>
              </a:rPr>
              <a:t>动态轴、算子兼容</a:t>
            </a:r>
            <a:endParaRPr lang="zh-CN" sz="9"/>
          </a:p>
          <a:extLst/>
        </p:txBody>
      </p:sp>
      <p:sp>
        <p:nvSpPr>
          <p:cNvPr id="21" name="TorchScript cell"/>
          <p:cNvSpPr/>
          <p:nvPr/>
        </p:nvSpPr>
        <p:spPr>
          <a:xfrm>
            <a:off x="731520" y="3163824"/>
            <a:ext cx="137160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22" name="TorchScript cell"/>
          <p:cNvSpPr/>
          <p:nvPr/>
        </p:nvSpPr>
        <p:spPr>
          <a:xfrm>
            <a:off x="2286000" y="3163824"/>
            <a:ext cx="228600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23" name="TorchScript cell"/>
          <p:cNvSpPr/>
          <p:nvPr/>
        </p:nvSpPr>
        <p:spPr>
          <a:xfrm>
            <a:off x="4800600" y="3163824"/>
            <a:ext cx="196596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24" name="TorchScript cell"/>
          <p:cNvSpPr/>
          <p:nvPr/>
        </p:nvSpPr>
        <p:spPr>
          <a:xfrm>
            <a:off x="6995160" y="3163824"/>
            <a:ext cx="196596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25" name="TorchScript cell"/>
          <p:cNvSpPr/>
          <p:nvPr/>
        </p:nvSpPr>
        <p:spPr>
          <a:xfrm>
            <a:off x="9189720" y="3163824"/>
            <a:ext cx="214884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26" name="Text TorchScript"/>
          <p:cNvSpPr/>
          <p:nvPr/>
        </p:nvSpPr>
        <p:spPr>
          <a:xfrm>
            <a:off x="914400" y="3310128"/>
            <a:ext cx="10058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20B8A5"/>
                </a:solidFill>
              </a:rPr>
              <a:t>TorchScript</a:t>
            </a:r>
            <a:endParaRPr lang="zh-CN" sz="11"/>
          </a:p>
          <a:extLst/>
        </p:txBody>
      </p:sp>
      <p:sp>
        <p:nvSpPr>
          <p:cNvPr id="27" name="Text PyTorch 原生部署"/>
          <p:cNvSpPr/>
          <p:nvPr/>
        </p:nvSpPr>
        <p:spPr>
          <a:xfrm>
            <a:off x="2468880" y="3310128"/>
            <a:ext cx="19202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13283A"/>
                </a:solidFill>
              </a:rPr>
              <a:t>PyTorch 原生部署</a:t>
            </a:r>
            <a:endParaRPr lang="zh-CN" sz="9"/>
          </a:p>
          <a:extLst/>
        </p:txBody>
      </p:sp>
      <p:sp>
        <p:nvSpPr>
          <p:cNvPr id="28" name="Text FP32 ✓"/>
          <p:cNvSpPr/>
          <p:nvPr/>
        </p:nvSpPr>
        <p:spPr>
          <a:xfrm>
            <a:off x="4983480" y="3310128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20B8A5"/>
                </a:solidFill>
              </a:rPr>
              <a:t>FP32 ✓</a:t>
            </a:r>
            <a:endParaRPr lang="zh-CN" sz="9"/>
          </a:p>
          <a:extLst/>
        </p:txBody>
      </p:sp>
      <p:sp>
        <p:nvSpPr>
          <p:cNvPr id="29" name="Text FP32 / FP16 "/>
          <p:cNvSpPr/>
          <p:nvPr/>
        </p:nvSpPr>
        <p:spPr>
          <a:xfrm>
            <a:off x="7178040" y="3310128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FP32 / FP16 ✓</a:t>
            </a:r>
            <a:endParaRPr lang="zh-CN" sz="9"/>
          </a:p>
          <a:extLst/>
        </p:txBody>
      </p:sp>
      <p:sp>
        <p:nvSpPr>
          <p:cNvPr id="30" name="Text PyTorch 版本匹配"/>
          <p:cNvSpPr/>
          <p:nvPr/>
        </p:nvSpPr>
        <p:spPr>
          <a:xfrm>
            <a:off x="9372600" y="3310128"/>
            <a:ext cx="178308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668095"/>
                </a:solidFill>
              </a:rPr>
              <a:t>PyTorch 版本匹配</a:t>
            </a:r>
            <a:endParaRPr lang="zh-CN" sz="9"/>
          </a:p>
          <a:extLst/>
        </p:txBody>
      </p:sp>
      <p:sp>
        <p:nvSpPr>
          <p:cNvPr id="31" name="OpenVINO cell"/>
          <p:cNvSpPr/>
          <p:nvPr/>
        </p:nvSpPr>
        <p:spPr>
          <a:xfrm>
            <a:off x="731520" y="387705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32" name="OpenVINO cell"/>
          <p:cNvSpPr/>
          <p:nvPr/>
        </p:nvSpPr>
        <p:spPr>
          <a:xfrm>
            <a:off x="2286000" y="387705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33" name="OpenVINO cell"/>
          <p:cNvSpPr/>
          <p:nvPr/>
        </p:nvSpPr>
        <p:spPr>
          <a:xfrm>
            <a:off x="4800600" y="3877056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34" name="OpenVINO cell"/>
          <p:cNvSpPr/>
          <p:nvPr/>
        </p:nvSpPr>
        <p:spPr>
          <a:xfrm>
            <a:off x="6995160" y="3877056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35" name="OpenVINO cell"/>
          <p:cNvSpPr/>
          <p:nvPr/>
        </p:nvSpPr>
        <p:spPr>
          <a:xfrm>
            <a:off x="9189720" y="3877056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</p:sp>
      <p:sp>
        <p:nvSpPr>
          <p:cNvPr id="36" name="Text OpenVINO"/>
          <p:cNvSpPr/>
          <p:nvPr/>
        </p:nvSpPr>
        <p:spPr>
          <a:xfrm>
            <a:off x="914400" y="4023360"/>
            <a:ext cx="10058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F39A45"/>
                </a:solidFill>
              </a:rPr>
              <a:t>OpenVINO</a:t>
            </a:r>
            <a:endParaRPr lang="zh-CN" sz="11"/>
          </a:p>
          <a:extLst/>
        </p:txBody>
      </p:sp>
      <p:sp>
        <p:nvSpPr>
          <p:cNvPr id="37" name="Text Intel CPU/GP"/>
          <p:cNvSpPr/>
          <p:nvPr/>
        </p:nvSpPr>
        <p:spPr>
          <a:xfrm>
            <a:off x="2468880" y="4023360"/>
            <a:ext cx="19202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13283A"/>
                </a:solidFill>
              </a:rPr>
              <a:t>Intel CPU/GPU/NPU</a:t>
            </a:r>
            <a:endParaRPr lang="zh-CN" sz="9"/>
          </a:p>
          <a:extLst/>
        </p:txBody>
      </p:sp>
      <p:sp>
        <p:nvSpPr>
          <p:cNvPr id="38" name="Text FP32 ✓"/>
          <p:cNvSpPr/>
          <p:nvPr/>
        </p:nvSpPr>
        <p:spPr>
          <a:xfrm>
            <a:off x="4983480" y="4023360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20B8A5"/>
                </a:solidFill>
              </a:rPr>
              <a:t>FP32 ✓</a:t>
            </a:r>
            <a:endParaRPr lang="zh-CN" sz="9"/>
          </a:p>
          <a:extLst/>
        </p:txBody>
      </p:sp>
      <p:sp>
        <p:nvSpPr>
          <p:cNvPr id="39" name="Text FP32 / FP16 "/>
          <p:cNvSpPr/>
          <p:nvPr/>
        </p:nvSpPr>
        <p:spPr>
          <a:xfrm>
            <a:off x="7178040" y="4023360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FP32 / FP16 ✓</a:t>
            </a:r>
            <a:endParaRPr lang="zh-CN" sz="9"/>
          </a:p>
          <a:extLst/>
        </p:txBody>
      </p:sp>
      <p:sp>
        <p:nvSpPr>
          <p:cNvPr id="40" name="Text XML + BIN 成对"/>
          <p:cNvSpPr/>
          <p:nvPr/>
        </p:nvSpPr>
        <p:spPr>
          <a:xfrm>
            <a:off x="9372600" y="4023360"/>
            <a:ext cx="178308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668095"/>
                </a:solidFill>
              </a:rPr>
              <a:t>XML + BIN 成对交付</a:t>
            </a:r>
            <a:endParaRPr lang="zh-CN" sz="9"/>
          </a:p>
          <a:extLst/>
        </p:txBody>
      </p:sp>
      <p:sp>
        <p:nvSpPr>
          <p:cNvPr id="41" name="TensorRT cell"/>
          <p:cNvSpPr/>
          <p:nvPr/>
        </p:nvSpPr>
        <p:spPr>
          <a:xfrm>
            <a:off x="731520" y="4590288"/>
            <a:ext cx="137160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42" name="TensorRT cell"/>
          <p:cNvSpPr/>
          <p:nvPr/>
        </p:nvSpPr>
        <p:spPr>
          <a:xfrm>
            <a:off x="2286000" y="4590288"/>
            <a:ext cx="228600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43" name="TensorRT cell"/>
          <p:cNvSpPr/>
          <p:nvPr/>
        </p:nvSpPr>
        <p:spPr>
          <a:xfrm>
            <a:off x="4800600" y="4590288"/>
            <a:ext cx="196596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44" name="TensorRT cell"/>
          <p:cNvSpPr/>
          <p:nvPr/>
        </p:nvSpPr>
        <p:spPr>
          <a:xfrm>
            <a:off x="6995160" y="4590288"/>
            <a:ext cx="196596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45" name="TensorRT cell"/>
          <p:cNvSpPr/>
          <p:nvPr/>
        </p:nvSpPr>
        <p:spPr>
          <a:xfrm>
            <a:off x="9189720" y="4590288"/>
            <a:ext cx="2148840" cy="566928"/>
          </a:xfrm>
          <a:prstGeom prst="rect">
            <a:avLst/>
          </a:prstGeom>
          <a:solidFill>
            <a:srgbClr val="EDF4F8"/>
          </a:solidFill>
          <a:ln w="12700">
            <a:solidFill>
              <a:srgbClr val="D7E2EA"/>
            </a:solidFill>
          </a:ln>
        </p:spPr>
      </p:sp>
      <p:sp>
        <p:nvSpPr>
          <p:cNvPr id="46" name="Text TensorRT"/>
          <p:cNvSpPr/>
          <p:nvPr/>
        </p:nvSpPr>
        <p:spPr>
          <a:xfrm>
            <a:off x="914400" y="4736592"/>
            <a:ext cx="10058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8066E8"/>
                </a:solidFill>
              </a:rPr>
              <a:t>TensorRT</a:t>
            </a:r>
            <a:endParaRPr lang="zh-CN" sz="11"/>
          </a:p>
          <a:extLst/>
        </p:txBody>
      </p:sp>
      <p:sp>
        <p:nvSpPr>
          <p:cNvPr id="47" name="Text NVIDIA 高性能推理"/>
          <p:cNvSpPr/>
          <p:nvPr/>
        </p:nvSpPr>
        <p:spPr>
          <a:xfrm>
            <a:off x="2468880" y="4736592"/>
            <a:ext cx="19202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13283A"/>
                </a:solidFill>
              </a:rPr>
              <a:t>NVIDIA 高性能推理</a:t>
            </a:r>
            <a:endParaRPr lang="zh-CN" sz="9"/>
          </a:p>
          <a:extLst/>
        </p:txBody>
      </p:sp>
      <p:sp>
        <p:nvSpPr>
          <p:cNvPr id="48" name="Text 不可用"/>
          <p:cNvSpPr/>
          <p:nvPr/>
        </p:nvSpPr>
        <p:spPr>
          <a:xfrm>
            <a:off x="4983480" y="4736592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EC6672"/>
                </a:solidFill>
              </a:rPr>
              <a:t>不可用</a:t>
            </a:r>
            <a:endParaRPr lang="zh-CN" sz="9"/>
          </a:p>
          <a:extLst/>
        </p:txBody>
      </p:sp>
      <p:sp>
        <p:nvSpPr>
          <p:cNvPr id="49" name="Text T4 / NVIDIA "/>
          <p:cNvSpPr/>
          <p:nvPr/>
        </p:nvSpPr>
        <p:spPr>
          <a:xfrm>
            <a:off x="7178040" y="4736592"/>
            <a:ext cx="16002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9" b="1">
                <a:latin typeface="Aptos"/>
                <a:ea typeface="Noto Sans CJK SC"/>
                <a:solidFill>
                  <a:srgbClr val="8066E8"/>
                </a:solidFill>
              </a:rPr>
              <a:t>T4 / NVIDIA GPU ✓</a:t>
            </a:r>
            <a:endParaRPr lang="zh-CN" sz="9"/>
          </a:p>
          <a:extLst/>
        </p:txBody>
      </p:sp>
      <p:sp>
        <p:nvSpPr>
          <p:cNvPr id="50" name="Text CUDA、TRT、GPU"/>
          <p:cNvSpPr/>
          <p:nvPr/>
        </p:nvSpPr>
        <p:spPr>
          <a:xfrm>
            <a:off x="9372600" y="4736592"/>
            <a:ext cx="178308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9" b="0">
                <a:latin typeface="Aptos"/>
                <a:ea typeface="Noto Sans CJK SC"/>
                <a:solidFill>
                  <a:srgbClr val="668095"/>
                </a:solidFill>
              </a:rPr>
              <a:t>CUDA、TRT、GPU 强绑定</a:t>
            </a:r>
            <a:endParaRPr lang="zh-CN" sz="9"/>
          </a:p>
          <a:extLst/>
        </p:txBody>
      </p:sp>
      <p:sp>
        <p:nvSpPr>
          <p:cNvPr id="51" name="conversion note"/>
          <p:cNvSpPr/>
          <p:nvPr/>
        </p:nvSpPr>
        <p:spPr>
          <a:xfrm>
            <a:off x="731520" y="5468112"/>
            <a:ext cx="10607040" cy="530352"/>
          </a:xfrm>
          <a:prstGeom prst="roundRect">
            <a:avLst/>
          </a:prstGeom>
          <a:solidFill>
            <a:srgbClr val="FFF2E4"/>
          </a:solidFill>
          <a:ln w="12700">
            <a:solidFill>
              <a:srgbClr val="F39A45"/>
            </a:solidFill>
          </a:ln>
        </p:spPr>
      </p:sp>
      <p:sp>
        <p:nvSpPr>
          <p:cNvPr id="52" name="Text 转换任务保留 sourc"/>
          <p:cNvSpPr/>
          <p:nvPr/>
        </p:nvSpPr>
        <p:spPr>
          <a:xfrm>
            <a:off x="987552" y="5641848"/>
            <a:ext cx="1010412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13283A"/>
                </a:solidFill>
              </a:rPr>
              <a:t>转换任务保留 source model、version、precision、target、options 与 artifactId，终态任务可删除并释放受管磁盘空间。</a:t>
            </a:r>
            <a:endParaRPr lang="zh-CN" sz="10"/>
          </a:p>
          <a:extLst/>
        </p:txBody>
      </p:sp>
      <p:sp>
        <p:nvSpPr>
          <p:cNvPr id="53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54" name="Text 08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08</a:t>
            </a:r>
            <a:endParaRPr lang="zh-CN" sz="8"/>
          </a:p>
          <a:extLst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可靠性、安全与运维设计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可靠性、安全与运维设计</a:t>
            </a:r>
            <a:endParaRPr lang="zh-CN" sz="27"/>
          </a:p>
          <a:extLst/>
        </p:txBody>
      </p:sp>
      <p:sp>
        <p:nvSpPr>
          <p:cNvPr id="5" name="Text 生产平台必须管理失败和删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生产平台必须管理失败和删除</a:t>
            </a:r>
            <a:endParaRPr lang="zh-CN" sz="11"/>
          </a:p>
          <a:extLst/>
        </p:txBody>
      </p:sp>
      <p:sp>
        <p:nvSpPr>
          <p:cNvPr id="6" name="统一错误契约"/>
          <p:cNvSpPr/>
          <p:nvPr/>
        </p:nvSpPr>
        <p:spPr>
          <a:xfrm>
            <a:off x="685800" y="182880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7" name="统一错误契约 accent"/>
          <p:cNvSpPr/>
          <p:nvPr/>
        </p:nvSpPr>
        <p:spPr>
          <a:xfrm>
            <a:off x="685800" y="1828800"/>
            <a:ext cx="68580" cy="1097280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8" name="统一错误契约 icon"/>
          <p:cNvSpPr/>
          <p:nvPr/>
        </p:nvSpPr>
        <p:spPr>
          <a:xfrm>
            <a:off x="886968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685E8"/>
                </a:solidFill>
              </a:rPr>
              <a:t>01</a:t>
            </a:r>
            <a:endParaRPr lang="zh-CN" sz="16"/>
          </a:p>
          <a:extLst/>
        </p:txBody>
      </p:sp>
      <p:sp>
        <p:nvSpPr>
          <p:cNvPr id="9" name="Text 统一错误契约"/>
          <p:cNvSpPr/>
          <p:nvPr/>
        </p:nvSpPr>
        <p:spPr>
          <a:xfrm>
            <a:off x="1344168" y="2011680"/>
            <a:ext cx="263347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统一错误契约</a:t>
            </a:r>
            <a:endParaRPr lang="zh-CN" sz="15"/>
          </a:p>
          <a:extLst/>
        </p:txBody>
      </p:sp>
      <p:sp>
        <p:nvSpPr>
          <p:cNvPr id="10" name="Text API 统一返回 cod"/>
          <p:cNvSpPr/>
          <p:nvPr/>
        </p:nvSpPr>
        <p:spPr>
          <a:xfrm>
            <a:off x="1344168" y="2423160"/>
            <a:ext cx="2606040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API 统一返回 code / message / fields / requestId；前端按 code 分支，不解析文案。</a:t>
            </a:r>
            <a:endParaRPr lang="zh-CN" sz="10"/>
          </a:p>
          <a:extLst/>
        </p:txBody>
      </p:sp>
      <p:sp>
        <p:nvSpPr>
          <p:cNvPr id="11" name="鉴权与角色"/>
          <p:cNvSpPr/>
          <p:nvPr/>
        </p:nvSpPr>
        <p:spPr>
          <a:xfrm>
            <a:off x="4370832" y="182880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12" name="鉴权与角色 accent"/>
          <p:cNvSpPr/>
          <p:nvPr/>
        </p:nvSpPr>
        <p:spPr>
          <a:xfrm>
            <a:off x="4370832" y="1828800"/>
            <a:ext cx="68580" cy="1097280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13" name="鉴权与角色 icon"/>
          <p:cNvSpPr/>
          <p:nvPr/>
        </p:nvSpPr>
        <p:spPr>
          <a:xfrm>
            <a:off x="4572000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8066E8"/>
                </a:solidFill>
              </a:rPr>
              <a:t>02</a:t>
            </a:r>
            <a:endParaRPr lang="zh-CN" sz="16"/>
          </a:p>
          <a:extLst/>
        </p:txBody>
      </p:sp>
      <p:sp>
        <p:nvSpPr>
          <p:cNvPr id="14" name="Text 鉴权与角色"/>
          <p:cNvSpPr/>
          <p:nvPr/>
        </p:nvSpPr>
        <p:spPr>
          <a:xfrm>
            <a:off x="5029200" y="2011680"/>
            <a:ext cx="263347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鉴权与角色</a:t>
            </a:r>
            <a:endParaRPr lang="zh-CN" sz="15"/>
          </a:p>
          <a:extLst/>
        </p:txBody>
      </p:sp>
      <p:sp>
        <p:nvSpPr>
          <p:cNvPr id="15" name="Text JWT 会话、works"/>
          <p:cNvSpPr/>
          <p:nvPr/>
        </p:nvSpPr>
        <p:spPr>
          <a:xfrm>
            <a:off x="5029200" y="2423160"/>
            <a:ext cx="2606040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JWT 会话、workspace 边界、admin / engineer / annotator 最小权限。</a:t>
            </a:r>
            <a:endParaRPr lang="zh-CN" sz="10"/>
          </a:p>
          <a:extLst/>
        </p:txBody>
      </p:sp>
      <p:sp>
        <p:nvSpPr>
          <p:cNvPr id="16" name="审计与活动"/>
          <p:cNvSpPr/>
          <p:nvPr/>
        </p:nvSpPr>
        <p:spPr>
          <a:xfrm>
            <a:off x="8055864" y="182880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17" name="审计与活动 accent"/>
          <p:cNvSpPr/>
          <p:nvPr/>
        </p:nvSpPr>
        <p:spPr>
          <a:xfrm>
            <a:off x="8055864" y="1828800"/>
            <a:ext cx="68580" cy="1097280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8" name="审计与活动 icon"/>
          <p:cNvSpPr/>
          <p:nvPr/>
        </p:nvSpPr>
        <p:spPr>
          <a:xfrm>
            <a:off x="8257032" y="202996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20B8A5"/>
                </a:solidFill>
              </a:rPr>
              <a:t>03</a:t>
            </a:r>
            <a:endParaRPr lang="zh-CN" sz="16"/>
          </a:p>
          <a:extLst/>
        </p:txBody>
      </p:sp>
      <p:sp>
        <p:nvSpPr>
          <p:cNvPr id="19" name="Text 审计与活动"/>
          <p:cNvSpPr/>
          <p:nvPr/>
        </p:nvSpPr>
        <p:spPr>
          <a:xfrm>
            <a:off x="8714232" y="2011680"/>
            <a:ext cx="263347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审计与活动</a:t>
            </a:r>
            <a:endParaRPr lang="zh-CN" sz="15"/>
          </a:p>
          <a:extLst/>
        </p:txBody>
      </p:sp>
      <p:sp>
        <p:nvSpPr>
          <p:cNvPr id="20" name="Text 关键写操作落 audit"/>
          <p:cNvSpPr/>
          <p:nvPr/>
        </p:nvSpPr>
        <p:spPr>
          <a:xfrm>
            <a:off x="8714232" y="2423160"/>
            <a:ext cx="2606039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关键写操作落 audit_logs；工作台聚合最近活动，形成可见的运维线索。</a:t>
            </a:r>
            <a:endParaRPr lang="zh-CN" sz="10"/>
          </a:p>
          <a:extLst/>
        </p:txBody>
      </p:sp>
      <p:sp>
        <p:nvSpPr>
          <p:cNvPr id="21" name="取消与删除协议"/>
          <p:cNvSpPr/>
          <p:nvPr/>
        </p:nvSpPr>
        <p:spPr>
          <a:xfrm>
            <a:off x="685800" y="333756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A45"/>
            </a:solidFill>
          </a:ln>
        </p:spPr>
      </p:sp>
      <p:sp>
        <p:nvSpPr>
          <p:cNvPr id="22" name="取消与删除协议 accent"/>
          <p:cNvSpPr/>
          <p:nvPr/>
        </p:nvSpPr>
        <p:spPr>
          <a:xfrm>
            <a:off x="685800" y="3337560"/>
            <a:ext cx="68580" cy="1097280"/>
          </a:xfrm>
          <a:prstGeom prst="roundRect">
            <a:avLst/>
          </a:prstGeom>
          <a:solidFill>
            <a:srgbClr val="F39A45"/>
          </a:solidFill>
          <a:ln w="12700">
            <a:noFill/>
          </a:ln>
        </p:spPr>
      </p:sp>
      <p:sp>
        <p:nvSpPr>
          <p:cNvPr id="23" name="取消与删除协议 icon"/>
          <p:cNvSpPr/>
          <p:nvPr/>
        </p:nvSpPr>
        <p:spPr>
          <a:xfrm>
            <a:off x="886968" y="353872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F39A45"/>
                </a:solidFill>
              </a:rPr>
              <a:t>04</a:t>
            </a:r>
            <a:endParaRPr lang="zh-CN" sz="16"/>
          </a:p>
          <a:extLst/>
        </p:txBody>
      </p:sp>
      <p:sp>
        <p:nvSpPr>
          <p:cNvPr id="24" name="Text 取消与删除协议"/>
          <p:cNvSpPr/>
          <p:nvPr/>
        </p:nvSpPr>
        <p:spPr>
          <a:xfrm>
            <a:off x="1344168" y="3520440"/>
            <a:ext cx="263347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取消与删除协议</a:t>
            </a:r>
            <a:endParaRPr lang="zh-CN" sz="15"/>
          </a:p>
          <a:extLst/>
        </p:txBody>
      </p:sp>
      <p:sp>
        <p:nvSpPr>
          <p:cNvPr id="25" name="Text 活动任务先取消，等待 W"/>
          <p:cNvSpPr/>
          <p:nvPr/>
        </p:nvSpPr>
        <p:spPr>
          <a:xfrm>
            <a:off x="1344168" y="3931920"/>
            <a:ext cx="2606040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活动任务先取消，等待 Worker 释放锁，再级联清理队列、数据库和目录。</a:t>
            </a:r>
            <a:endParaRPr lang="zh-CN" sz="10"/>
          </a:p>
          <a:extLst/>
        </p:txBody>
      </p:sp>
      <p:sp>
        <p:nvSpPr>
          <p:cNvPr id="26" name="失败可重试"/>
          <p:cNvSpPr/>
          <p:nvPr/>
        </p:nvSpPr>
        <p:spPr>
          <a:xfrm>
            <a:off x="4370832" y="333756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6672"/>
            </a:solidFill>
          </a:ln>
        </p:spPr>
      </p:sp>
      <p:sp>
        <p:nvSpPr>
          <p:cNvPr id="27" name="失败可重试 accent"/>
          <p:cNvSpPr/>
          <p:nvPr/>
        </p:nvSpPr>
        <p:spPr>
          <a:xfrm>
            <a:off x="4370832" y="3337560"/>
            <a:ext cx="68580" cy="1097280"/>
          </a:xfrm>
          <a:prstGeom prst="roundRect">
            <a:avLst/>
          </a:prstGeom>
          <a:solidFill>
            <a:srgbClr val="EC6672"/>
          </a:solidFill>
          <a:ln w="12700">
            <a:noFill/>
          </a:ln>
        </p:spPr>
      </p:sp>
      <p:sp>
        <p:nvSpPr>
          <p:cNvPr id="28" name="失败可重试 icon"/>
          <p:cNvSpPr/>
          <p:nvPr/>
        </p:nvSpPr>
        <p:spPr>
          <a:xfrm>
            <a:off x="4572000" y="353872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EC6672"/>
                </a:solidFill>
              </a:rPr>
              <a:t>05</a:t>
            </a:r>
            <a:endParaRPr lang="zh-CN" sz="16"/>
          </a:p>
          <a:extLst/>
        </p:txBody>
      </p:sp>
      <p:sp>
        <p:nvSpPr>
          <p:cNvPr id="29" name="Text 失败可重试"/>
          <p:cNvSpPr/>
          <p:nvPr/>
        </p:nvSpPr>
        <p:spPr>
          <a:xfrm>
            <a:off x="5029200" y="3520440"/>
            <a:ext cx="2633472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失败可重试</a:t>
            </a:r>
            <a:endParaRPr lang="zh-CN" sz="15"/>
          </a:p>
          <a:extLst/>
        </p:txBody>
      </p:sp>
      <p:sp>
        <p:nvSpPr>
          <p:cNvPr id="30" name="Text 保留原任务与事件，从持久"/>
          <p:cNvSpPr/>
          <p:nvPr/>
        </p:nvSpPr>
        <p:spPr>
          <a:xfrm>
            <a:off x="5029200" y="3931920"/>
            <a:ext cx="2606040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保留原任务与事件，从持久化配置创建新任务；不覆盖失败现场。</a:t>
            </a:r>
            <a:endParaRPr lang="zh-CN" sz="10"/>
          </a:p>
          <a:extLst/>
        </p:txBody>
      </p:sp>
      <p:sp>
        <p:nvSpPr>
          <p:cNvPr id="31" name="备份与恢复"/>
          <p:cNvSpPr/>
          <p:nvPr/>
        </p:nvSpPr>
        <p:spPr>
          <a:xfrm>
            <a:off x="8055864" y="3337560"/>
            <a:ext cx="3429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D7E8"/>
            </a:solidFill>
          </a:ln>
        </p:spPr>
      </p:sp>
      <p:sp>
        <p:nvSpPr>
          <p:cNvPr id="32" name="备份与恢复 accent"/>
          <p:cNvSpPr/>
          <p:nvPr/>
        </p:nvSpPr>
        <p:spPr>
          <a:xfrm>
            <a:off x="8055864" y="3337560"/>
            <a:ext cx="68580" cy="1097280"/>
          </a:xfrm>
          <a:prstGeom prst="roundRect">
            <a:avLst/>
          </a:prstGeom>
          <a:solidFill>
            <a:srgbClr val="42D7E8"/>
          </a:solidFill>
          <a:ln w="12700">
            <a:noFill/>
          </a:ln>
        </p:spPr>
      </p:sp>
      <p:sp>
        <p:nvSpPr>
          <p:cNvPr id="33" name="备份与恢复 icon"/>
          <p:cNvSpPr/>
          <p:nvPr/>
        </p:nvSpPr>
        <p:spPr>
          <a:xfrm>
            <a:off x="8257032" y="3538728"/>
            <a:ext cx="347472" cy="34747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txBody>
          <a:bodyPr lIns="120" rIns="120" tIns="120" bIns="120" vert="horz">
            <a:noAutofit/>
          </a:bodyPr>
          <a:lstStyle/>
          <a:p>
            <a:pPr algn="ctr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42D7E8"/>
                </a:solidFill>
              </a:rPr>
              <a:t>06</a:t>
            </a:r>
            <a:endParaRPr lang="zh-CN" sz="16"/>
          </a:p>
          <a:extLst/>
        </p:txBody>
      </p:sp>
      <p:sp>
        <p:nvSpPr>
          <p:cNvPr id="34" name="Text 备份与恢复"/>
          <p:cNvSpPr/>
          <p:nvPr/>
        </p:nvSpPr>
        <p:spPr>
          <a:xfrm>
            <a:off x="8714232" y="3520440"/>
            <a:ext cx="2633471" cy="32004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5" b="1">
                <a:latin typeface="Aptos"/>
                <a:ea typeface="Noto Sans CJK SC"/>
                <a:solidFill>
                  <a:srgbClr val="13283A"/>
                </a:solidFill>
              </a:rPr>
              <a:t>备份与恢复</a:t>
            </a:r>
            <a:endParaRPr lang="zh-CN" sz="15"/>
          </a:p>
          <a:extLst/>
        </p:txBody>
      </p:sp>
      <p:sp>
        <p:nvSpPr>
          <p:cNvPr id="35" name="Text PostgreSQL、M"/>
          <p:cNvSpPr/>
          <p:nvPr/>
        </p:nvSpPr>
        <p:spPr>
          <a:xfrm>
            <a:off x="8714232" y="3931920"/>
            <a:ext cx="2606039" cy="365759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PostgreSQL、MinIO、Worker 数据卷分别备份；预训练缓存与业务制品隔离。</a:t>
            </a:r>
            <a:endParaRPr lang="zh-CN" sz="10"/>
          </a:p>
          <a:extLst/>
        </p:txBody>
      </p:sp>
      <p:sp>
        <p:nvSpPr>
          <p:cNvPr id="36" name="ops rule"/>
          <p:cNvSpPr/>
          <p:nvPr/>
        </p:nvSpPr>
        <p:spPr>
          <a:xfrm>
            <a:off x="685800" y="5029200"/>
            <a:ext cx="10789920" cy="804672"/>
          </a:xfrm>
          <a:prstGeom prst="roundRect">
            <a:avLst/>
          </a:prstGeom>
          <a:solidFill>
            <a:srgbClr val="0D2940"/>
          </a:solidFill>
          <a:ln w="12700">
            <a:noFill/>
          </a:ln>
        </p:spPr>
      </p:sp>
      <p:sp>
        <p:nvSpPr>
          <p:cNvPr id="37" name="Text 运维底线"/>
          <p:cNvSpPr/>
          <p:nvPr/>
        </p:nvSpPr>
        <p:spPr>
          <a:xfrm>
            <a:off x="941832" y="5276088"/>
            <a:ext cx="1554480" cy="18288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1">
                <a:latin typeface="Aptos"/>
                <a:ea typeface="Noto Sans CJK SC"/>
                <a:solidFill>
                  <a:srgbClr val="42D7E8"/>
                </a:solidFill>
              </a:rPr>
              <a:t>运维底线</a:t>
            </a:r>
            <a:endParaRPr lang="zh-CN" sz="11"/>
          </a:p>
          <a:extLst/>
        </p:txBody>
      </p:sp>
      <p:sp>
        <p:nvSpPr>
          <p:cNvPr id="38" name="Text 业务资源可删除，系统级模"/>
          <p:cNvSpPr/>
          <p:nvPr/>
        </p:nvSpPr>
        <p:spPr>
          <a:xfrm>
            <a:off x="2670048" y="5230368"/>
            <a:ext cx="8366760" cy="27432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3" b="1">
                <a:latin typeface="Aptos"/>
                <a:ea typeface="Noto Sans CJK SC"/>
                <a:solidFill>
                  <a:srgbClr val="FFFFFF"/>
                </a:solidFill>
              </a:rPr>
              <a:t>业务资源可删除，系统级模型缓存不可误删；每一次删除都返回释放空间，每一次失败都保留证据。</a:t>
            </a:r>
            <a:endParaRPr lang="zh-CN" sz="13"/>
          </a:p>
          <a:extLst/>
        </p:txBody>
      </p:sp>
      <p:sp>
        <p:nvSpPr>
          <p:cNvPr id="39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40" name="Text 09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09</a:t>
            </a:r>
            <a:endParaRPr lang="zh-CN" sz="8"/>
          </a:p>
          <a:extLst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noFill/>
          </a:ln>
        </p:spPr>
      </p:sp>
      <p:sp>
        <p:nvSpPr>
          <p:cNvPr id="3" name="Header accent"/>
          <p:cNvSpPr/>
          <p:nvPr/>
        </p:nvSpPr>
        <p:spPr>
          <a:xfrm>
            <a:off x="457200" y="310896"/>
            <a:ext cx="530352" cy="73152"/>
          </a:xfrm>
          <a:prstGeom prst="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4" name="Text 落地路线：从平台可用到平"/>
          <p:cNvSpPr/>
          <p:nvPr/>
        </p:nvSpPr>
        <p:spPr>
          <a:xfrm>
            <a:off x="457200" y="548640"/>
            <a:ext cx="10789920" cy="59436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27" b="1">
                <a:latin typeface="Aptos"/>
                <a:ea typeface="Noto Sans CJK SC"/>
                <a:solidFill>
                  <a:srgbClr val="13283A"/>
                </a:solidFill>
              </a:rPr>
              <a:t>落地路线：从平台可用到平台可规模化</a:t>
            </a:r>
            <a:endParaRPr lang="zh-CN" sz="27"/>
          </a:p>
          <a:extLst/>
        </p:txBody>
      </p:sp>
      <p:sp>
        <p:nvSpPr>
          <p:cNvPr id="5" name="Text 建议的三阶段演进"/>
          <p:cNvSpPr/>
          <p:nvPr/>
        </p:nvSpPr>
        <p:spPr>
          <a:xfrm>
            <a:off x="457200" y="1170432"/>
            <a:ext cx="1078992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1" b="0">
                <a:latin typeface="Aptos"/>
                <a:ea typeface="Noto Sans CJK SC"/>
                <a:solidFill>
                  <a:srgbClr val="668095"/>
                </a:solidFill>
              </a:rPr>
              <a:t>建议的三阶段演进</a:t>
            </a:r>
            <a:endParaRPr lang="zh-CN" sz="11"/>
          </a:p>
          <a:extLst/>
        </p:txBody>
      </p:sp>
      <p:sp>
        <p:nvSpPr>
          <p:cNvPr id="6" name="阶段一 · 已具备"/>
          <p:cNvSpPr/>
          <p:nvPr/>
        </p:nvSpPr>
        <p:spPr>
          <a:xfrm>
            <a:off x="685800" y="1828800"/>
            <a:ext cx="2788920" cy="3154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B8A5"/>
            </a:solidFill>
          </a:ln>
        </p:spPr>
      </p:sp>
      <p:sp>
        <p:nvSpPr>
          <p:cNvPr id="7" name="阶段一 · 已具备 header"/>
          <p:cNvSpPr/>
          <p:nvPr/>
        </p:nvSpPr>
        <p:spPr>
          <a:xfrm>
            <a:off x="685800" y="1828800"/>
            <a:ext cx="2788920" cy="566928"/>
          </a:xfrm>
          <a:prstGeom prst="roundRect">
            <a:avLst/>
          </a:prstGeom>
          <a:solidFill>
            <a:srgbClr val="20B8A5"/>
          </a:solidFill>
          <a:ln w="12700">
            <a:solidFill>
              <a:srgbClr val="20B8A5"/>
            </a:solidFill>
          </a:ln>
        </p:spPr>
      </p:sp>
      <p:sp>
        <p:nvSpPr>
          <p:cNvPr id="8" name="Text 阶段一 · 已具备"/>
          <p:cNvSpPr/>
          <p:nvPr/>
        </p:nvSpPr>
        <p:spPr>
          <a:xfrm>
            <a:off x="868680" y="1975104"/>
            <a:ext cx="242316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阶段一 · 已具备</a:t>
            </a:r>
            <a:endParaRPr lang="zh-CN" sz="10"/>
          </a:p>
          <a:extLst/>
        </p:txBody>
      </p:sp>
      <p:sp>
        <p:nvSpPr>
          <p:cNvPr id="9" name="Text 可用的生产闭环"/>
          <p:cNvSpPr/>
          <p:nvPr/>
        </p:nvSpPr>
        <p:spPr>
          <a:xfrm>
            <a:off x="868680" y="2651760"/>
            <a:ext cx="242316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3283A"/>
                </a:solidFill>
              </a:rPr>
              <a:t>可用的生产闭环</a:t>
            </a:r>
            <a:endParaRPr lang="zh-CN" sz="16"/>
          </a:p>
          <a:extLst/>
        </p:txBody>
      </p:sp>
      <p:sp>
        <p:nvSpPr>
          <p:cNvPr id="10" name="bullet"/>
          <p:cNvSpPr/>
          <p:nvPr/>
        </p:nvSpPr>
        <p:spPr>
          <a:xfrm>
            <a:off x="896112" y="3282696"/>
            <a:ext cx="100584" cy="100584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1" name="Text 数据集与标注审核"/>
          <p:cNvSpPr/>
          <p:nvPr/>
        </p:nvSpPr>
        <p:spPr>
          <a:xfrm>
            <a:off x="1124712" y="3246120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数据集与标注审核</a:t>
            </a:r>
            <a:endParaRPr lang="zh-CN" sz="10"/>
          </a:p>
          <a:extLst/>
        </p:txBody>
      </p:sp>
      <p:sp>
        <p:nvSpPr>
          <p:cNvPr id="12" name="bullet"/>
          <p:cNvSpPr/>
          <p:nvPr/>
        </p:nvSpPr>
        <p:spPr>
          <a:xfrm>
            <a:off x="896112" y="3666744"/>
            <a:ext cx="100584" cy="100584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3" name="Text 真实 CPU/GPU 训"/>
          <p:cNvSpPr/>
          <p:nvPr/>
        </p:nvSpPr>
        <p:spPr>
          <a:xfrm>
            <a:off x="1124712" y="3630168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真实 CPU/GPU 训练</a:t>
            </a:r>
            <a:endParaRPr lang="zh-CN" sz="10"/>
          </a:p>
          <a:extLst/>
        </p:txBody>
      </p:sp>
      <p:sp>
        <p:nvSpPr>
          <p:cNvPr id="14" name="bullet"/>
          <p:cNvSpPr/>
          <p:nvPr/>
        </p:nvSpPr>
        <p:spPr>
          <a:xfrm>
            <a:off x="896112" y="4050791"/>
            <a:ext cx="100584" cy="100584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5" name="Text 模型仓库与转换"/>
          <p:cNvSpPr/>
          <p:nvPr/>
        </p:nvSpPr>
        <p:spPr>
          <a:xfrm>
            <a:off x="1124712" y="4014215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模型仓库与转换</a:t>
            </a:r>
            <a:endParaRPr lang="zh-CN" sz="10"/>
          </a:p>
          <a:extLst/>
        </p:txBody>
      </p:sp>
      <p:sp>
        <p:nvSpPr>
          <p:cNvPr id="16" name="bullet"/>
          <p:cNvSpPr/>
          <p:nvPr/>
        </p:nvSpPr>
        <p:spPr>
          <a:xfrm>
            <a:off x="896112" y="4434840"/>
            <a:ext cx="100584" cy="100584"/>
          </a:xfrm>
          <a:prstGeom prst="roundRect">
            <a:avLst/>
          </a:prstGeom>
          <a:solidFill>
            <a:srgbClr val="20B8A5"/>
          </a:solidFill>
          <a:ln w="12700">
            <a:noFill/>
          </a:ln>
        </p:spPr>
      </p:sp>
      <p:sp>
        <p:nvSpPr>
          <p:cNvPr id="17" name="Text 任务删除与磁盘清理"/>
          <p:cNvSpPr/>
          <p:nvPr/>
        </p:nvSpPr>
        <p:spPr>
          <a:xfrm>
            <a:off x="1124712" y="4398264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任务删除与磁盘清理</a:t>
            </a:r>
            <a:endParaRPr lang="zh-CN" sz="10"/>
          </a:p>
          <a:extLst/>
        </p:txBody>
      </p:sp>
      <p:sp>
        <p:nvSpPr>
          <p:cNvPr id="18" name="阶段二 · 建议优先"/>
          <p:cNvSpPr/>
          <p:nvPr/>
        </p:nvSpPr>
        <p:spPr>
          <a:xfrm>
            <a:off x="4069080" y="1828800"/>
            <a:ext cx="2788920" cy="3154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5E8"/>
            </a:solidFill>
          </a:ln>
        </p:spPr>
      </p:sp>
      <p:sp>
        <p:nvSpPr>
          <p:cNvPr id="19" name="阶段二 · 建议优先 header"/>
          <p:cNvSpPr/>
          <p:nvPr/>
        </p:nvSpPr>
        <p:spPr>
          <a:xfrm>
            <a:off x="4069080" y="1828800"/>
            <a:ext cx="2788920" cy="566928"/>
          </a:xfrm>
          <a:prstGeom prst="roundRect">
            <a:avLst/>
          </a:prstGeom>
          <a:solidFill>
            <a:srgbClr val="1685E8"/>
          </a:solidFill>
          <a:ln w="12700">
            <a:solidFill>
              <a:srgbClr val="1685E8"/>
            </a:solidFill>
          </a:ln>
        </p:spPr>
      </p:sp>
      <p:sp>
        <p:nvSpPr>
          <p:cNvPr id="20" name="Text 阶段二 · 建议优先"/>
          <p:cNvSpPr/>
          <p:nvPr/>
        </p:nvSpPr>
        <p:spPr>
          <a:xfrm>
            <a:off x="4251960" y="1975104"/>
            <a:ext cx="242316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阶段二 · 建议优先</a:t>
            </a:r>
            <a:endParaRPr lang="zh-CN" sz="10"/>
          </a:p>
          <a:extLst/>
        </p:txBody>
      </p:sp>
      <p:sp>
        <p:nvSpPr>
          <p:cNvPr id="21" name="Text 交付与治理增强"/>
          <p:cNvSpPr/>
          <p:nvPr/>
        </p:nvSpPr>
        <p:spPr>
          <a:xfrm>
            <a:off x="4251960" y="2651760"/>
            <a:ext cx="242316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3283A"/>
                </a:solidFill>
              </a:rPr>
              <a:t>交付与治理增强</a:t>
            </a:r>
            <a:endParaRPr lang="zh-CN" sz="16"/>
          </a:p>
          <a:extLst/>
        </p:txBody>
      </p:sp>
      <p:sp>
        <p:nvSpPr>
          <p:cNvPr id="22" name="bullet"/>
          <p:cNvSpPr/>
          <p:nvPr/>
        </p:nvSpPr>
        <p:spPr>
          <a:xfrm>
            <a:off x="4279392" y="3282696"/>
            <a:ext cx="100584" cy="100584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23" name="Text MinIO/S3 制品归"/>
          <p:cNvSpPr/>
          <p:nvPr/>
        </p:nvSpPr>
        <p:spPr>
          <a:xfrm>
            <a:off x="4507992" y="3246120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MinIO/S3 制品归档</a:t>
            </a:r>
            <a:endParaRPr lang="zh-CN" sz="10"/>
          </a:p>
          <a:extLst/>
        </p:txBody>
      </p:sp>
      <p:sp>
        <p:nvSpPr>
          <p:cNvPr id="24" name="bullet"/>
          <p:cNvSpPr/>
          <p:nvPr/>
        </p:nvSpPr>
        <p:spPr>
          <a:xfrm>
            <a:off x="4279392" y="3666744"/>
            <a:ext cx="100584" cy="100584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25" name="Text 更细粒度权限"/>
          <p:cNvSpPr/>
          <p:nvPr/>
        </p:nvSpPr>
        <p:spPr>
          <a:xfrm>
            <a:off x="4507992" y="3630168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更细粒度权限</a:t>
            </a:r>
            <a:endParaRPr lang="zh-CN" sz="10"/>
          </a:p>
          <a:extLst/>
        </p:txBody>
      </p:sp>
      <p:sp>
        <p:nvSpPr>
          <p:cNvPr id="26" name="bullet"/>
          <p:cNvSpPr/>
          <p:nvPr/>
        </p:nvSpPr>
        <p:spPr>
          <a:xfrm>
            <a:off x="4279392" y="4050791"/>
            <a:ext cx="100584" cy="100584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27" name="Text 多 Worker 资源调"/>
          <p:cNvSpPr/>
          <p:nvPr/>
        </p:nvSpPr>
        <p:spPr>
          <a:xfrm>
            <a:off x="4507992" y="4014215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多 Worker 资源调度</a:t>
            </a:r>
            <a:endParaRPr lang="zh-CN" sz="10"/>
          </a:p>
          <a:extLst/>
        </p:txBody>
      </p:sp>
      <p:sp>
        <p:nvSpPr>
          <p:cNvPr id="28" name="bullet"/>
          <p:cNvSpPr/>
          <p:nvPr/>
        </p:nvSpPr>
        <p:spPr>
          <a:xfrm>
            <a:off x="4279392" y="4434840"/>
            <a:ext cx="100584" cy="100584"/>
          </a:xfrm>
          <a:prstGeom prst="roundRect">
            <a:avLst/>
          </a:prstGeom>
          <a:solidFill>
            <a:srgbClr val="1685E8"/>
          </a:solidFill>
          <a:ln w="12700">
            <a:noFill/>
          </a:ln>
        </p:spPr>
      </p:sp>
      <p:sp>
        <p:nvSpPr>
          <p:cNvPr id="29" name="Text 运行时部署验收"/>
          <p:cNvSpPr/>
          <p:nvPr/>
        </p:nvSpPr>
        <p:spPr>
          <a:xfrm>
            <a:off x="4507992" y="4398264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运行时部署验收</a:t>
            </a:r>
            <a:endParaRPr lang="zh-CN" sz="10"/>
          </a:p>
          <a:extLst/>
        </p:txBody>
      </p:sp>
      <p:sp>
        <p:nvSpPr>
          <p:cNvPr id="30" name="阶段三 · 规模化"/>
          <p:cNvSpPr/>
          <p:nvPr/>
        </p:nvSpPr>
        <p:spPr>
          <a:xfrm>
            <a:off x="7452360" y="1828800"/>
            <a:ext cx="2788920" cy="3154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66E8"/>
            </a:solidFill>
          </a:ln>
        </p:spPr>
      </p:sp>
      <p:sp>
        <p:nvSpPr>
          <p:cNvPr id="31" name="阶段三 · 规模化 header"/>
          <p:cNvSpPr/>
          <p:nvPr/>
        </p:nvSpPr>
        <p:spPr>
          <a:xfrm>
            <a:off x="7452360" y="1828800"/>
            <a:ext cx="2788920" cy="566928"/>
          </a:xfrm>
          <a:prstGeom prst="roundRect">
            <a:avLst/>
          </a:prstGeom>
          <a:solidFill>
            <a:srgbClr val="8066E8"/>
          </a:solidFill>
          <a:ln w="12700">
            <a:solidFill>
              <a:srgbClr val="8066E8"/>
            </a:solidFill>
          </a:ln>
        </p:spPr>
      </p:sp>
      <p:sp>
        <p:nvSpPr>
          <p:cNvPr id="32" name="Text 阶段三 · 规模化"/>
          <p:cNvSpPr/>
          <p:nvPr/>
        </p:nvSpPr>
        <p:spPr>
          <a:xfrm>
            <a:off x="7635240" y="1975104"/>
            <a:ext cx="242316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1">
                <a:latin typeface="Aptos"/>
                <a:ea typeface="Noto Sans CJK SC"/>
                <a:solidFill>
                  <a:srgbClr val="FFFFFF"/>
                </a:solidFill>
              </a:rPr>
              <a:t>阶段三 · 规模化</a:t>
            </a:r>
            <a:endParaRPr lang="zh-CN" sz="10"/>
          </a:p>
          <a:extLst/>
        </p:txBody>
      </p:sp>
      <p:sp>
        <p:nvSpPr>
          <p:cNvPr id="33" name="Text 组织与算力扩展"/>
          <p:cNvSpPr/>
          <p:nvPr/>
        </p:nvSpPr>
        <p:spPr>
          <a:xfrm>
            <a:off x="7635240" y="2651760"/>
            <a:ext cx="2423160" cy="292608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6" b="1">
                <a:latin typeface="Aptos"/>
                <a:ea typeface="Noto Sans CJK SC"/>
                <a:solidFill>
                  <a:srgbClr val="13283A"/>
                </a:solidFill>
              </a:rPr>
              <a:t>组织与算力扩展</a:t>
            </a:r>
            <a:endParaRPr lang="zh-CN" sz="16"/>
          </a:p>
          <a:extLst/>
        </p:txBody>
      </p:sp>
      <p:sp>
        <p:nvSpPr>
          <p:cNvPr id="34" name="bullet"/>
          <p:cNvSpPr/>
          <p:nvPr/>
        </p:nvSpPr>
        <p:spPr>
          <a:xfrm>
            <a:off x="7662672" y="3282696"/>
            <a:ext cx="100584" cy="100584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35" name="Text 多租户 / SSO"/>
          <p:cNvSpPr/>
          <p:nvPr/>
        </p:nvSpPr>
        <p:spPr>
          <a:xfrm>
            <a:off x="7891272" y="3246120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多租户 / SSO</a:t>
            </a:r>
            <a:endParaRPr lang="zh-CN" sz="10"/>
          </a:p>
          <a:extLst/>
        </p:txBody>
      </p:sp>
      <p:sp>
        <p:nvSpPr>
          <p:cNvPr id="36" name="bullet"/>
          <p:cNvSpPr/>
          <p:nvPr/>
        </p:nvSpPr>
        <p:spPr>
          <a:xfrm>
            <a:off x="7662672" y="3666744"/>
            <a:ext cx="100584" cy="100584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37" name="Text 多节点 GPU 调度"/>
          <p:cNvSpPr/>
          <p:nvPr/>
        </p:nvSpPr>
        <p:spPr>
          <a:xfrm>
            <a:off x="7891272" y="3630168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多节点 GPU 调度</a:t>
            </a:r>
            <a:endParaRPr lang="zh-CN" sz="10"/>
          </a:p>
          <a:extLst/>
        </p:txBody>
      </p:sp>
      <p:sp>
        <p:nvSpPr>
          <p:cNvPr id="38" name="bullet"/>
          <p:cNvSpPr/>
          <p:nvPr/>
        </p:nvSpPr>
        <p:spPr>
          <a:xfrm>
            <a:off x="7662672" y="4050791"/>
            <a:ext cx="100584" cy="100584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39" name="Text 模型评测与回归集"/>
          <p:cNvSpPr/>
          <p:nvPr/>
        </p:nvSpPr>
        <p:spPr>
          <a:xfrm>
            <a:off x="7891272" y="4014215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模型评测与回归集</a:t>
            </a:r>
            <a:endParaRPr lang="zh-CN" sz="10"/>
          </a:p>
          <a:extLst/>
        </p:txBody>
      </p:sp>
      <p:sp>
        <p:nvSpPr>
          <p:cNvPr id="40" name="bullet"/>
          <p:cNvSpPr/>
          <p:nvPr/>
        </p:nvSpPr>
        <p:spPr>
          <a:xfrm>
            <a:off x="7662672" y="4434840"/>
            <a:ext cx="100584" cy="100584"/>
          </a:xfrm>
          <a:prstGeom prst="roundRect">
            <a:avLst/>
          </a:prstGeom>
          <a:solidFill>
            <a:srgbClr val="8066E8"/>
          </a:solidFill>
          <a:ln w="12700">
            <a:noFill/>
          </a:ln>
        </p:spPr>
      </p:sp>
      <p:sp>
        <p:nvSpPr>
          <p:cNvPr id="41" name="Text 在线推理服务编排"/>
          <p:cNvSpPr/>
          <p:nvPr/>
        </p:nvSpPr>
        <p:spPr>
          <a:xfrm>
            <a:off x="7891272" y="4398264"/>
            <a:ext cx="2103120" cy="2103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10" b="0">
                <a:latin typeface="Aptos"/>
                <a:ea typeface="Noto Sans CJK SC"/>
                <a:solidFill>
                  <a:srgbClr val="668095"/>
                </a:solidFill>
              </a:rPr>
              <a:t>在线推理服务编排</a:t>
            </a:r>
            <a:endParaRPr lang="zh-CN" sz="10"/>
          </a:p>
          <a:extLst/>
        </p:txBody>
      </p:sp>
      <p:sp>
        <p:nvSpPr>
          <p:cNvPr id="42" name="closing"/>
          <p:cNvSpPr/>
          <p:nvPr/>
        </p:nvSpPr>
        <p:spPr>
          <a:xfrm>
            <a:off x="685800" y="5376672"/>
            <a:ext cx="9555480" cy="566928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1685E8"/>
            </a:solidFill>
          </a:ln>
        </p:spPr>
      </p:sp>
      <p:sp>
        <p:nvSpPr>
          <p:cNvPr id="43" name="Text 架构结论：以数据与制品为"/>
          <p:cNvSpPr/>
          <p:nvPr/>
        </p:nvSpPr>
        <p:spPr>
          <a:xfrm>
            <a:off x="932688" y="5559552"/>
            <a:ext cx="9052560" cy="18288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12" b="1">
                <a:latin typeface="Aptos"/>
                <a:ea typeface="Noto Sans CJK SC"/>
                <a:solidFill>
                  <a:srgbClr val="13283A"/>
                </a:solidFill>
              </a:rPr>
              <a:t>架构结论：以数据与制品为中心，以队列和 Worker 解耦算力，以审计和生命周期治理保障交付。</a:t>
            </a:r>
            <a:endParaRPr lang="zh-CN" sz="12"/>
          </a:p>
          <a:extLst/>
        </p:txBody>
      </p:sp>
      <p:sp>
        <p:nvSpPr>
          <p:cNvPr id="44" name="Text 谢谢"/>
          <p:cNvSpPr/>
          <p:nvPr/>
        </p:nvSpPr>
        <p:spPr>
          <a:xfrm>
            <a:off x="10442448" y="5440680"/>
            <a:ext cx="1005840" cy="43891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ctr" marL="0" indent="0">
              <a:defRPr/>
            </a:pPr>
            <a:r>
              <a:rPr lang="zh-CN" sz="20" b="1">
                <a:latin typeface="Aptos"/>
                <a:ea typeface="Noto Sans CJK SC"/>
                <a:solidFill>
                  <a:srgbClr val="1685E8"/>
                </a:solidFill>
              </a:rPr>
              <a:t>谢谢</a:t>
            </a:r>
            <a:endParaRPr lang="zh-CN" sz="20"/>
          </a:p>
          <a:extLst/>
        </p:txBody>
      </p:sp>
      <p:sp>
        <p:nvSpPr>
          <p:cNvPr id="45" name="Text FORGE AI  · "/>
          <p:cNvSpPr/>
          <p:nvPr/>
        </p:nvSpPr>
        <p:spPr>
          <a:xfrm>
            <a:off x="457200" y="6519672"/>
            <a:ext cx="594360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l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FORGE AI  ·  工业质检模型生产平台</a:t>
            </a:r>
            <a:endParaRPr lang="zh-CN" sz="8"/>
          </a:p>
          <a:extLst/>
        </p:txBody>
      </p:sp>
      <p:sp>
        <p:nvSpPr>
          <p:cNvPr id="46" name="Text 10"/>
          <p:cNvSpPr/>
          <p:nvPr/>
        </p:nvSpPr>
        <p:spPr>
          <a:xfrm>
            <a:off x="11155680" y="6519672"/>
            <a:ext cx="548640" cy="164592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vert="horz">
            <a:noAutofit/>
          </a:bodyPr>
          <a:lstStyle/>
          <a:p>
            <a:pPr algn="r" marL="0" indent="0">
              <a:defRPr/>
            </a:pPr>
            <a:r>
              <a:rPr lang="zh-CN" sz="8" b="0">
                <a:latin typeface="Aptos"/>
                <a:ea typeface="Noto Sans CJK SC"/>
                <a:solidFill>
                  <a:srgbClr val="7D95A5"/>
                </a:solidFill>
              </a:rPr>
              <a:t>10</a:t>
            </a:r>
            <a:endParaRPr lang="zh-CN" sz="8"/>
          </a:p>
          <a:extLst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ge AI">
  <a:themeElements>
    <a:clrScheme name="Forge">
      <a:dk1>
        <a:srgbClr val="000000"/>
      </a:dk1>
      <a:lt1>
        <a:srgbClr val="FFFFFF"/>
      </a:lt1>
      <a:dk2>
        <a:srgbClr val="13283A"/>
      </a:dk2>
      <a:lt2>
        <a:srgbClr val="F4F8FB"/>
      </a:lt2>
      <a:accent1>
        <a:srgbClr val="1685E8"/>
      </a:accent1>
      <a:accent2>
        <a:srgbClr val="42D7E8"/>
      </a:accent2>
      <a:accent3>
        <a:srgbClr val="20B8A5"/>
      </a:accent3>
      <a:accent4>
        <a:srgbClr val="8066E8"/>
      </a:accent4>
      <a:accent5>
        <a:srgbClr val="F39A45"/>
      </a:accent5>
      <a:accent6>
        <a:srgbClr val="EC6672"/>
      </a:accent6>
      <a:hlink>
        <a:srgbClr val="1685E8"/>
      </a:hlink>
      <a:folHlink>
        <a:srgbClr val="8066E8"/>
      </a:folHlink>
    </a:clrScheme>
    <a:fontScheme name="Forge Fonts">
      <a:majorFont>
        <a:latin typeface="Aptos Display"/>
        <a:ea typeface="Noto Sans CJK SC"/>
      </a:majorFont>
      <a:minorFont>
        <a:latin typeface="Aptos"/>
        <a:ea typeface="Noto Sans CJK SC"/>
      </a:minorFont>
    </a:fontScheme>
    <a:fmtScheme name="Forge Format"/>
  </a:themeElements>
</a:theme>
</file>